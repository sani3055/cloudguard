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02920"/>
            <a:ext cx="8229600" cy="365760"/>
          </a:xfrm>
          <a:prstGeom prst="rect">
            <a:avLst/>
          </a:prstGeom>
          <a:noFill/>
          <a:ln/>
        </p:spPr>
        <p:txBody>
          <a:bodyPr wrap="square" rtlCol="0" anchor="ctr"/>
          <a:lstStyle/>
          <a:p>
            <a:pPr algn="ctr" indent="0" marL="0">
              <a:buNone/>
            </a:pPr>
            <a:r>
              <a:rPr lang="en-US" sz="1500" b="1" dirty="0">
                <a:solidFill>
                  <a:srgbClr val="555555"/>
                </a:solidFill>
                <a:latin typeface="Calibri" pitchFamily="34" charset="0"/>
                <a:ea typeface="Calibri" pitchFamily="34" charset="-122"/>
                <a:cs typeface="Calibri" pitchFamily="34" charset="-120"/>
              </a:rPr>
              <a:t>B.Tech BCSE497J – Project I, Review-2</a:t>
            </a:r>
            <a:endParaRPr lang="en-US" sz="1500" dirty="0"/>
          </a:p>
        </p:txBody>
      </p:sp>
      <p:sp>
        <p:nvSpPr>
          <p:cNvPr id="3" name="Text 1"/>
          <p:cNvSpPr/>
          <p:nvPr/>
        </p:nvSpPr>
        <p:spPr>
          <a:xfrm>
            <a:off x="640080" y="1371600"/>
            <a:ext cx="7863840" cy="1188720"/>
          </a:xfrm>
          <a:prstGeom prst="rect">
            <a:avLst/>
          </a:prstGeom>
          <a:noFill/>
          <a:ln/>
        </p:spPr>
        <p:txBody>
          <a:bodyPr wrap="square" rtlCol="0" anchor="ctr"/>
          <a:lstStyle/>
          <a:p>
            <a:pPr algn="ctr" indent="0" marL="0">
              <a:buNone/>
            </a:pPr>
            <a:r>
              <a:rPr lang="en-US" sz="2200" b="1" dirty="0">
                <a:solidFill>
                  <a:srgbClr val="1F2A44"/>
                </a:solidFill>
                <a:latin typeface="Calibri" pitchFamily="34" charset="0"/>
                <a:ea typeface="Calibri" pitchFamily="34" charset="-122"/>
                <a:cs typeface="Calibri" pitchFamily="34" charset="-120"/>
              </a:rPr>
              <a:t>CloudGuard: An Explainable AI Framework for Adaptive Threat</a:t>
            </a:r>
            <a:endParaRPr lang="en-US" sz="2200" dirty="0"/>
          </a:p>
          <a:p>
            <a:pPr algn="ctr" indent="0" marL="0">
              <a:buNone/>
            </a:pPr>
            <a:r>
              <a:rPr lang="en-US" sz="2200" b="1" dirty="0">
                <a:solidFill>
                  <a:srgbClr val="1F2A44"/>
                </a:solidFill>
                <a:latin typeface="Calibri" pitchFamily="34" charset="0"/>
                <a:ea typeface="Calibri" pitchFamily="34" charset="-122"/>
                <a:cs typeface="Calibri" pitchFamily="34" charset="-120"/>
              </a:rPr>
              <a:t>Detection and IAM-Based Remediation in AWS CloudTrail Events</a:t>
            </a:r>
            <a:endParaRPr lang="en-US" sz="2200" dirty="0"/>
          </a:p>
        </p:txBody>
      </p:sp>
      <p:sp>
        <p:nvSpPr>
          <p:cNvPr id="4" name="Text 2"/>
          <p:cNvSpPr/>
          <p:nvPr/>
        </p:nvSpPr>
        <p:spPr>
          <a:xfrm>
            <a:off x="2743200" y="3200400"/>
            <a:ext cx="3657600" cy="1463040"/>
          </a:xfrm>
          <a:prstGeom prst="rect">
            <a:avLst/>
          </a:prstGeom>
          <a:noFill/>
          <a:ln/>
        </p:spPr>
        <p:txBody>
          <a:bodyPr wrap="square"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Team member:
</a:t>
            </a:r>
            <a:endParaRPr lang="en-US" sz="1300" dirty="0"/>
          </a:p>
          <a:p>
            <a:pPr algn="ctr" indent="0" marL="0">
              <a:buNone/>
            </a:pPr>
            <a:r>
              <a:rPr lang="en-US" sz="1300" dirty="0">
                <a:solidFill>
                  <a:srgbClr val="111111"/>
                </a:solidFill>
                <a:latin typeface="Calibri" pitchFamily="34" charset="0"/>
                <a:ea typeface="Calibri" pitchFamily="34" charset="-122"/>
                <a:cs typeface="Calibri" pitchFamily="34" charset="-120"/>
              </a:rPr>
              <a:t>Sanidhya Bhandari   (23BCT0029)
</a:t>
            </a:r>
            <a:endParaRPr lang="en-US" sz="1300" dirty="0"/>
          </a:p>
          <a:p>
            <a:pPr algn="ctr" indent="0" marL="0">
              <a:buNone/>
            </a:pPr>
            <a:r>
              <a:rPr lang="en-US" sz="1300" b="1" dirty="0">
                <a:solidFill>
                  <a:srgbClr val="111111"/>
                </a:solidFill>
                <a:latin typeface="Calibri" pitchFamily="34" charset="0"/>
                <a:ea typeface="Calibri" pitchFamily="34" charset="-122"/>
                <a:cs typeface="Calibri" pitchFamily="34" charset="-120"/>
              </a:rPr>
              <a:t>Faculty guide:
</a:t>
            </a:r>
            <a:endParaRPr lang="en-US" sz="1300" dirty="0"/>
          </a:p>
          <a:p>
            <a:pPr algn="ctr" indent="0" marL="0">
              <a:buNone/>
            </a:pPr>
            <a:r>
              <a:rPr lang="en-US" sz="1300" dirty="0">
                <a:solidFill>
                  <a:srgbClr val="111111"/>
                </a:solidFill>
                <a:latin typeface="Calibri" pitchFamily="34" charset="0"/>
                <a:ea typeface="Calibri" pitchFamily="34" charset="-122"/>
                <a:cs typeface="Calibri" pitchFamily="34" charset="-120"/>
              </a:rPr>
              <a:t>Dr. Badrinath N</a:t>
            </a:r>
            <a:endParaRPr lang="en-US" sz="1300" dirty="0"/>
          </a:p>
        </p:txBody>
      </p:sp>
      <p:sp>
        <p:nvSpPr>
          <p:cNvPr id="5" name="Text 3"/>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6" name="Text 4"/>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7" name="Text 5"/>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Approval Mail From Guide</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Guide approval to be obtained by email before the Review-2 date (sample checklist below), per department guidelines.</a:t>
            </a:r>
            <a:endParaRPr lang="en-US" sz="1300" dirty="0"/>
          </a:p>
          <a:p>
            <a:pPr marL="342900" indent="-342900">
              <a:lnSpc>
                <a:spcPct val="108000"/>
              </a:lnSpc>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Checklist to confirm with guide:</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Meeting with Guide Frequency — Satisfied / Not-Satisfied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PowerPoint Presentation — Approved / Not-Approved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Project Demonstration — Approved / Not-Approved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Project Report Draft — Satisfied / Not-Satisfied</a:t>
            </a:r>
            <a:endParaRPr lang="en-US" sz="1300" dirty="0"/>
          </a:p>
          <a:p>
            <a:pPr lvl="1" marL="685800" indent="-342900">
              <a:lnSpc>
                <a:spcPct val="108000"/>
              </a:lnSpc>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Project Outcome — Ongoing / Completed</a:t>
            </a:r>
            <a:endParaRPr lang="en-US" sz="1300" dirty="0"/>
          </a:p>
          <a:p>
            <a:pPr marL="342900" indent="-342900">
              <a:lnSpc>
                <a:spcPct val="108000"/>
              </a:lnSpc>
              <a:spcAft>
                <a:spcPts val="1000"/>
              </a:spcAft>
              <a:buSzPct val="100000"/>
              <a:buChar char="•"/>
            </a:pPr>
            <a:r>
              <a:rPr lang="en-US" sz="1300" dirty="0">
                <a:solidFill>
                  <a:srgbClr val="B03A2E"/>
                </a:solidFill>
                <a:latin typeface="Calibri" pitchFamily="34" charset="0"/>
                <a:ea typeface="Calibri" pitchFamily="34" charset="-122"/>
                <a:cs typeface="Calibri" pitchFamily="34" charset="-120"/>
              </a:rPr>
              <a:t>[Insert guide's approval email screenshot here before submission]</a:t>
            </a:r>
            <a:endParaRPr lang="en-US" sz="13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Aim</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To design and implement a real-time, explainable, and automated cloud security monitoring system that:</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detects anomalous AWS CloudTrail API activity using unsupervised machine learning (IsolationForest);</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explains each detection decision using SHAP (Explainable AI);</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classifies threats according to the MITRE ATT&amp;CK framework;</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automatically generates and validates least-privilege IAM remediation policies;</a:t>
            </a:r>
            <a:endParaRPr lang="en-US" sz="1400" dirty="0"/>
          </a:p>
          <a:p>
            <a:pPr lvl="1" marL="6858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operates within a serverless, event-driven AWS architecture (CloudTrail → EventBridge → Lambda → DynamoDB → Streamlit).</a:t>
            </a:r>
            <a:endParaRPr lang="en-US" sz="14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Abstract</a:t>
            </a:r>
            <a:endParaRPr lang="en-US" sz="2200" dirty="0"/>
          </a:p>
        </p:txBody>
      </p:sp>
      <p:sp>
        <p:nvSpPr>
          <p:cNvPr id="3" name="Text 1"/>
          <p:cNvSpPr/>
          <p:nvPr/>
        </p:nvSpPr>
        <p:spPr>
          <a:xfrm>
            <a:off x="320040" y="914400"/>
            <a:ext cx="8503920" cy="3291840"/>
          </a:xfrm>
          <a:prstGeom prst="rect">
            <a:avLst/>
          </a:prstGeom>
          <a:noFill/>
          <a:ln/>
        </p:spPr>
        <p:txBody>
          <a:bodyPr wrap="square" rtlCol="0" anchor="t"/>
          <a:lstStyle/>
          <a:p>
            <a:pPr indent="0" marL="0">
              <a:lnSpc>
                <a:spcPct val="115000"/>
              </a:lnSpc>
              <a:buNone/>
            </a:pPr>
            <a:r>
              <a:rPr lang="en-US" sz="1400" dirty="0">
                <a:solidFill>
                  <a:srgbClr val="111111"/>
                </a:solidFill>
                <a:latin typeface="Calibri" pitchFamily="34" charset="0"/>
                <a:ea typeface="Calibri" pitchFamily="34" charset="-122"/>
                <a:cs typeface="Calibri" pitchFamily="34" charset="-120"/>
              </a:rPr>
              <a:t>CloudGuard is a serverless AWS security platform that applies unsupervised machine learning and Explainable AI (XAI) to detect and respond to threats in AWS CloudTrail audit logs. An IsolationForest model, trained on 1,939,214 real CloudTrail API call records, assigns anomaly scores to every API event. Detected anomalies are explained using SHAP to identify which features drove the detection. A MITRE ATT&amp;CK-mapped rule engine classifies each anomaly into one of six threat categories. Category-specific least-privilege IAM Deny policies are automatically generated, validated by AWS IAM Access Analyzer, and placed in a human-in-the-loop approval queue before any enforcement. All stages are orchestrated by an AWS Lambda function triggered by Amazon EventBridge, with results persisted to DynamoDB and visualised through a six-page Streamlit dashboard including a Live Simulation sandbox.</a:t>
            </a:r>
            <a:endParaRPr lang="en-US" sz="14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Literature Review</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914400"/>
          <a:ext cx="8503920" cy="3474720"/>
        </p:xfrm>
        <a:graphic>
          <a:graphicData uri="http://schemas.openxmlformats.org/drawingml/2006/table">
            <a:tbl>
              <a:tblPr/>
              <a:tblGrid>
                <a:gridCol w="2286000"/>
                <a:gridCol w="1920240"/>
                <a:gridCol w="2194560"/>
                <a:gridCol w="2103120"/>
              </a:tblGrid>
              <a:tr h="5791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Paper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Objective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Methodology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Relevance to CloudGuard</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Liu, Ting, Zhou (2008) – Isolation Forest, ICDM</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Efficient anomaly detection via isolation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Random partition trees; path length as anomaly score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Core anomaly-detection algorithm used by CloudGuard</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Lundberg &amp; Lee (2017) – SHAP, NeurIPS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Unified feature-attribution framework</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Shapley-value based model explanation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Used for per-event XAI attribution (TreeExplainer)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Strom et al. (2018) – MITRE ATT&amp;CK, MITRE Tech. Report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Structured adversary tactic/technique taxonomy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Knowledge base of real-world attack techniques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Used to map detected anomalies to threat categories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Varma &amp; Ramya (2025) – XAI + LLM for CloudTrail anomalies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Detect &amp; explain anomalous CloudTrail activity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ML anomaly detection + LLM contextual explanation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Closest related pipeline; CloudGuard adds validated IAM remediation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79120">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Arul Selvam &amp; Selvy (2025) – XAI for insider-threat detection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Improve transparency of cloud threat detection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SHAP, LIME, counterfactual reasoning</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Confirms SHAP-based attribution improves analyst trust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274320" y="4937760"/>
            <a:ext cx="1828800" cy="228600"/>
          </a:xfrm>
          <a:prstGeom prst="rect">
            <a:avLst/>
          </a:prstGeom>
          <a:noFill/>
          <a:ln/>
        </p:spPr>
        <p:txBody>
          <a:bodyPr wrap="square" rtlCol="0" anchor="ctr"/>
          <a:lstStyle/>
          <a:p>
            <a:pPr indent="0" marL="0" algn="l">
              <a:buNone/>
            </a:pPr>
            <a:r>
              <a:rPr sz="1400" b="1">
                <a:solidFill>
                  <a:srgbClr val="00467F"/>
                </a:solidFill>
              </a:rPr>
              <a:t>Core Methodological References</a:t>
            </a:r>
            <a:endParaRPr lang="en-US" sz="800" dirty="0"/>
          </a:p>
          <a:p>
            <a:pPr/>
            <a:r>
              <a:rPr sz="1200" b="0"/>
              <a:t>[1] Liu et al. (2008) — Isolation Forest, IEEE ICDM  |  Core unsupervised anomaly-detection algorithm</a:t>
            </a:r>
          </a:p>
          <a:p>
            <a:pPr/>
            <a:r>
              <a:rPr sz="1200" b="0"/>
              <a:t>[2] Lundberg &amp; Lee (2017) — SHAP, NeurIPS  |  Per-feature attribution framework used for XAI</a:t>
            </a:r>
          </a:p>
          <a:p>
            <a:pPr/>
            <a:r>
              <a:rPr sz="1200" b="0"/>
              <a:t>[3] Strom et al. (2018) — MITRE ATT&amp;CK  |  Adversary tactic/technique taxonomy for threat mapping</a:t>
            </a:r>
          </a:p>
          <a:p>
            <a:pPr/>
            <a:r>
              <a:rPr sz="1200" b="0"/>
              <a:t>[4] Pedregosa et al. (2011) — Scikit-learn, JMLR  |  IsolationForest &amp; OrdinalEncoder implementation</a:t>
            </a:r>
          </a:p>
          <a:p>
            <a:pPr/>
            <a:r>
              <a:rPr sz="1200" b="0"/>
              <a:t/>
            </a:r>
          </a:p>
          <a:p>
            <a:pPr/>
            <a:r>
              <a:rPr sz="1400" b="1"/>
              <a:t>Related Work</a:t>
            </a:r>
          </a:p>
          <a:p>
            <a:pPr/>
            <a:r>
              <a:rPr sz="1200" b="0"/>
              <a:t>[5] Varma &amp; Ramya (2025) — CloudTrail ML + XAI anomaly detection (ICNGN 2025)  |  Closest related; no IAM remediation</a:t>
            </a:r>
          </a:p>
          <a:p>
            <a:pPr/>
            <a:r>
              <a:rPr sz="1200" b="0"/>
              <a:t>[6] Arul Selvam &amp; Selvy (2025) — XAI for insider threat in cloud (CCPE 2025)  |  XAI but no policy generation</a:t>
            </a:r>
          </a:p>
          <a:p>
            <a:pPr/>
            <a:r>
              <a:rPr sz="1200" b="0"/>
              <a:t>[7] Nandan et al. (2026) — Self-supervised GNN for CloudTrail anomalies  |  Different model; no explainability</a:t>
            </a:r>
          </a:p>
          <a:p>
            <a:pPr/>
            <a:r>
              <a:rPr sz="1200" b="0"/>
              <a:t>[8] Anwar et al. (2026) — VIRTUOSO multilayer cloud risk monitoring  |  Broader scope; not XAI-guided IAM</a:t>
            </a:r>
          </a:p>
        </p:txBody>
      </p:sp>
      <p:sp>
        <p:nvSpPr>
          <p:cNvPr id="5" name="Text 2"/>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3"/>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Research Gap</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Existing cloud security tools rely on signature-based detection (ineffective against novel attacks) or supervised ML (requires labelled data rarely available in production).</a:t>
            </a:r>
            <a:endParaRPr lang="en-US" sz="1400" dirty="0"/>
          </a:p>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Few solutions combine, in a single pipeline: (1) unsupervised anomaly detection, (2) model-level explainability via SHAP, (3) MITRE ATT&amp;CK mapping, and (4) automated, validated, policy-based remediation.</a:t>
            </a:r>
            <a:endParaRPr lang="en-US" sz="1400" dirty="0"/>
          </a:p>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Related XAI-for-cloud work (e.g., Varma &amp; Ramya 2025) explains anomalies but does not generate or validate IAM remediation policies.</a:t>
            </a:r>
            <a:endParaRPr lang="en-US" sz="1400" dirty="0"/>
          </a:p>
          <a:p>
            <a:pPr marL="342900" indent="-342900">
              <a:lnSpc>
                <a:spcPct val="108000"/>
              </a:lnSpc>
              <a:spcAft>
                <a:spcPts val="600"/>
              </a:spcAft>
              <a:buSzPct val="100000"/>
              <a:buChar char="•"/>
            </a:pPr>
            <a:r>
              <a:rPr lang="en-US" sz="1400" dirty="0">
                <a:solidFill>
                  <a:srgbClr val="111111"/>
                </a:solidFill>
                <a:latin typeface="Calibri" pitchFamily="34" charset="0"/>
                <a:ea typeface="Calibri" pitchFamily="34" charset="-122"/>
                <a:cs typeface="Calibri" pitchFamily="34" charset="-120"/>
              </a:rPr>
              <a:t>CloudGuard addresses this gap by connecting detection → explanation → classification → least-privilege IAM policy generation → Access Analyzer validation → human-in-the-loop enforcement.</a:t>
            </a:r>
            <a:endParaRPr lang="en-US" sz="140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Objectives, SDGs and Outcomes</a:t>
            </a:r>
            <a:endParaRPr lang="en-US" sz="2200" dirty="0"/>
          </a:p>
        </p:txBody>
      </p:sp>
      <p:sp>
        <p:nvSpPr>
          <p:cNvPr id="3" name="Text 1"/>
          <p:cNvSpPr/>
          <p:nvPr/>
        </p:nvSpPr>
        <p:spPr>
          <a:xfrm>
            <a:off x="320040" y="868680"/>
            <a:ext cx="8503920" cy="2788920"/>
          </a:xfrm>
          <a:prstGeom prst="rect">
            <a:avLst/>
          </a:prstGeom>
          <a:noFill/>
          <a:ln/>
        </p:spPr>
        <p:txBody>
          <a:bodyPr wrap="square" rtlCol="0" anchor="t"/>
          <a:lstStyle/>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Implement real-time CloudTrail event ingestion and deterministic feature extraction.</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Train an IsolationForest anomaly-detection model on real CloudTrail data (1.93M events).</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Apply SHAP TreeExplainer for per-feature attribution on every detected anomaly.</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Map SHAP evidence to 6 MITRE ATT&amp;CK-aligned threat categories.</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Automatically generate category-specific least-privilege IAM Deny policies.</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Validate generated policies using AWS IAM Access Analyzer before enforcement.</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Implement a human-in-the-loop remediation queue with a SIMULATION_MODE safety gate.</a:t>
            </a:r>
            <a:endParaRPr lang="en-US" sz="1250" dirty="0"/>
          </a:p>
          <a:p>
            <a:pPr marL="342900" indent="-342900">
              <a:lnSpc>
                <a:spcPct val="108000"/>
              </a:lnSpc>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Build a 6-page Streamlit dashboard including a Live Simulation sandbox.</a:t>
            </a:r>
            <a:endParaRPr lang="en-US" sz="1250" dirty="0"/>
          </a:p>
        </p:txBody>
      </p:sp>
      <p:sp>
        <p:nvSpPr>
          <p:cNvPr id="4" name="Text 2"/>
          <p:cNvSpPr/>
          <p:nvPr/>
        </p:nvSpPr>
        <p:spPr>
          <a:xfrm>
            <a:off x="320040" y="3794760"/>
            <a:ext cx="4206240" cy="274320"/>
          </a:xfrm>
          <a:prstGeom prst="rect">
            <a:avLst/>
          </a:prstGeom>
          <a:noFill/>
          <a:ln/>
        </p:spPr>
        <p:txBody>
          <a:bodyPr wrap="square" rtlCol="0" anchor="ctr"/>
          <a:lstStyle/>
          <a:p>
            <a:pPr indent="0" marL="0">
              <a:buNone/>
            </a:pPr>
            <a:r>
              <a:rPr lang="en-US" sz="1200" b="1" dirty="0">
                <a:solidFill>
                  <a:srgbClr val="1F2A44"/>
                </a:solidFill>
              </a:rPr>
              <a:t>SDG Mapping</a:t>
            </a:r>
            <a:endParaRPr lang="en-US" sz="1200" dirty="0"/>
          </a:p>
        </p:txBody>
      </p:sp>
      <p:sp>
        <p:nvSpPr>
          <p:cNvPr id="5" name="Text 3"/>
          <p:cNvSpPr/>
          <p:nvPr/>
        </p:nvSpPr>
        <p:spPr>
          <a:xfrm>
            <a:off x="320040" y="4069080"/>
            <a:ext cx="4206240" cy="822960"/>
          </a:xfrm>
          <a:prstGeom prst="rect">
            <a:avLst/>
          </a:prstGeom>
          <a:noFill/>
          <a:ln/>
        </p:spPr>
        <p:txBody>
          <a:bodyPr wrap="square" rtlCol="0" anchor="t"/>
          <a:lstStyle/>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SDG 9 — Industry, Innovation &amp; Infrastructure</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SDG 16 — Peace, Justice &amp; Strong Institutions</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SDG 17 — Partnerships for the Goals</a:t>
            </a:r>
            <a:endParaRPr lang="en-US" sz="1050" dirty="0"/>
          </a:p>
        </p:txBody>
      </p:sp>
      <p:sp>
        <p:nvSpPr>
          <p:cNvPr id="6" name="Text 4"/>
          <p:cNvSpPr/>
          <p:nvPr/>
        </p:nvSpPr>
        <p:spPr>
          <a:xfrm>
            <a:off x="4709160" y="3794760"/>
            <a:ext cx="4114800" cy="274320"/>
          </a:xfrm>
          <a:prstGeom prst="rect">
            <a:avLst/>
          </a:prstGeom>
          <a:noFill/>
          <a:ln/>
        </p:spPr>
        <p:txBody>
          <a:bodyPr wrap="square" rtlCol="0" anchor="ctr"/>
          <a:lstStyle/>
          <a:p>
            <a:pPr indent="0" marL="0">
              <a:buNone/>
            </a:pPr>
            <a:r>
              <a:rPr lang="en-US" sz="1200" b="1" dirty="0">
                <a:solidFill>
                  <a:srgbClr val="1F2A44"/>
                </a:solidFill>
              </a:rPr>
              <a:t>Outcomes</a:t>
            </a:r>
            <a:endParaRPr lang="en-US" sz="1200" dirty="0"/>
          </a:p>
        </p:txBody>
      </p:sp>
      <p:sp>
        <p:nvSpPr>
          <p:cNvPr id="7" name="Text 5"/>
          <p:cNvSpPr/>
          <p:nvPr/>
        </p:nvSpPr>
        <p:spPr>
          <a:xfrm>
            <a:off x="4709160" y="4069080"/>
            <a:ext cx="4114800" cy="822960"/>
          </a:xfrm>
          <a:prstGeom prst="rect">
            <a:avLst/>
          </a:prstGeom>
          <a:noFill/>
          <a:ln/>
        </p:spPr>
        <p:txBody>
          <a:bodyPr wrap="square" rtlCol="0" anchor="t"/>
          <a:lstStyle/>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Functional prototype (working end-to-end pipeline, 82/82 tests passing)</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Conference/Journal paper (Scopus) — targeted</a:t>
            </a:r>
            <a:endParaRPr lang="en-US" sz="1050" dirty="0"/>
          </a:p>
        </p:txBody>
      </p:sp>
      <p:sp>
        <p:nvSpPr>
          <p:cNvPr id="8" name="Text 6"/>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9" name="Text 7"/>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10" name="Text 8"/>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Framework / Architecture</a:t>
            </a:r>
            <a:endParaRPr lang="en-US" sz="2200" dirty="0"/>
          </a:p>
        </p:txBody>
      </p:sp>
      <p:sp>
        <p:nvSpPr>
          <p:cNvPr id="3" name="Shape 1"/>
          <p:cNvSpPr/>
          <p:nvPr/>
        </p:nvSpPr>
        <p:spPr>
          <a:xfrm>
            <a:off x="320040" y="1143000"/>
            <a:ext cx="1572768" cy="777240"/>
          </a:xfrm>
          <a:prstGeom prst="roundRect">
            <a:avLst>
              <a:gd name="adj" fmla="val 7059"/>
            </a:avLst>
          </a:prstGeom>
          <a:solidFill>
            <a:srgbClr val="EAF1FB"/>
          </a:solidFill>
          <a:ln w="12700">
            <a:solidFill>
              <a:srgbClr val="2E5A8C"/>
            </a:solidFill>
            <a:prstDash val="solid"/>
          </a:ln>
        </p:spPr>
        <p:txBody>
          <a:bodyPr/>
          <a:p/>
        </p:txBody>
      </p:sp>
      <p:sp>
        <p:nvSpPr>
          <p:cNvPr id="4" name="Text 2"/>
          <p:cNvSpPr/>
          <p:nvPr/>
        </p:nvSpPr>
        <p:spPr>
          <a:xfrm>
            <a:off x="320040"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CloudTrail</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(API audit log)</a:t>
            </a:r>
            <a:endParaRPr lang="en-US" sz="950" dirty="0"/>
          </a:p>
        </p:txBody>
      </p:sp>
      <p:sp>
        <p:nvSpPr>
          <p:cNvPr id="5" name="Text 3"/>
          <p:cNvSpPr/>
          <p:nvPr/>
        </p:nvSpPr>
        <p:spPr>
          <a:xfrm>
            <a:off x="1892808"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6" name="Shape 4"/>
          <p:cNvSpPr/>
          <p:nvPr/>
        </p:nvSpPr>
        <p:spPr>
          <a:xfrm>
            <a:off x="2029968" y="1143000"/>
            <a:ext cx="1572768" cy="777240"/>
          </a:xfrm>
          <a:prstGeom prst="roundRect">
            <a:avLst>
              <a:gd name="adj" fmla="val 7059"/>
            </a:avLst>
          </a:prstGeom>
          <a:solidFill>
            <a:srgbClr val="EAF1FB"/>
          </a:solidFill>
          <a:ln w="12700">
            <a:solidFill>
              <a:srgbClr val="2E5A8C"/>
            </a:solidFill>
            <a:prstDash val="solid"/>
          </a:ln>
        </p:spPr>
        <p:txBody>
          <a:bodyPr/>
          <a:p/>
        </p:txBody>
      </p:sp>
      <p:sp>
        <p:nvSpPr>
          <p:cNvPr id="7" name="Text 5"/>
          <p:cNvSpPr/>
          <p:nvPr/>
        </p:nvSpPr>
        <p:spPr>
          <a:xfrm>
            <a:off x="2029968"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EventBridge</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(event filter/route)</a:t>
            </a:r>
            <a:endParaRPr lang="en-US" sz="950" dirty="0"/>
          </a:p>
        </p:txBody>
      </p:sp>
      <p:sp>
        <p:nvSpPr>
          <p:cNvPr id="8" name="Text 6"/>
          <p:cNvSpPr/>
          <p:nvPr/>
        </p:nvSpPr>
        <p:spPr>
          <a:xfrm>
            <a:off x="3602736"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9" name="Shape 7"/>
          <p:cNvSpPr/>
          <p:nvPr/>
        </p:nvSpPr>
        <p:spPr>
          <a:xfrm>
            <a:off x="3739896" y="1143000"/>
            <a:ext cx="1572768" cy="777240"/>
          </a:xfrm>
          <a:prstGeom prst="roundRect">
            <a:avLst>
              <a:gd name="adj" fmla="val 7059"/>
            </a:avLst>
          </a:prstGeom>
          <a:solidFill>
            <a:srgbClr val="EAF1FB"/>
          </a:solidFill>
          <a:ln w="12700">
            <a:solidFill>
              <a:srgbClr val="2E5A8C"/>
            </a:solidFill>
            <a:prstDash val="solid"/>
          </a:ln>
        </p:spPr>
        <p:txBody>
          <a:bodyPr/>
          <a:p/>
        </p:txBody>
      </p:sp>
      <p:sp>
        <p:nvSpPr>
          <p:cNvPr id="10" name="Text 8"/>
          <p:cNvSpPr/>
          <p:nvPr/>
        </p:nvSpPr>
        <p:spPr>
          <a:xfrm>
            <a:off x="3739896"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Lambda</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(8-stage pipeline)</a:t>
            </a:r>
            <a:endParaRPr lang="en-US" sz="950" dirty="0"/>
          </a:p>
        </p:txBody>
      </p:sp>
      <p:sp>
        <p:nvSpPr>
          <p:cNvPr id="11" name="Text 9"/>
          <p:cNvSpPr/>
          <p:nvPr/>
        </p:nvSpPr>
        <p:spPr>
          <a:xfrm>
            <a:off x="5312664"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12" name="Shape 10"/>
          <p:cNvSpPr/>
          <p:nvPr/>
        </p:nvSpPr>
        <p:spPr>
          <a:xfrm>
            <a:off x="5449824" y="1143000"/>
            <a:ext cx="1572768" cy="777240"/>
          </a:xfrm>
          <a:prstGeom prst="roundRect">
            <a:avLst>
              <a:gd name="adj" fmla="val 7059"/>
            </a:avLst>
          </a:prstGeom>
          <a:solidFill>
            <a:srgbClr val="EAF1FB"/>
          </a:solidFill>
          <a:ln w="12700">
            <a:solidFill>
              <a:srgbClr val="2E5A8C"/>
            </a:solidFill>
            <a:prstDash val="solid"/>
          </a:ln>
        </p:spPr>
        <p:txBody>
          <a:bodyPr/>
          <a:p/>
        </p:txBody>
      </p:sp>
      <p:sp>
        <p:nvSpPr>
          <p:cNvPr id="13" name="Text 11"/>
          <p:cNvSpPr/>
          <p:nvPr/>
        </p:nvSpPr>
        <p:spPr>
          <a:xfrm>
            <a:off x="5449824"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DynamoDB</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(ThreatEvents)</a:t>
            </a:r>
            <a:endParaRPr lang="en-US" sz="950" dirty="0"/>
          </a:p>
        </p:txBody>
      </p:sp>
      <p:sp>
        <p:nvSpPr>
          <p:cNvPr id="14" name="Text 12"/>
          <p:cNvSpPr/>
          <p:nvPr/>
        </p:nvSpPr>
        <p:spPr>
          <a:xfrm>
            <a:off x="7022592" y="1143000"/>
            <a:ext cx="137160" cy="777240"/>
          </a:xfrm>
          <a:prstGeom prst="rect">
            <a:avLst/>
          </a:prstGeom>
          <a:noFill/>
          <a:ln/>
        </p:spPr>
        <p:txBody>
          <a:bodyPr wrap="square" rtlCol="0" anchor="ctr"/>
          <a:lstStyle/>
          <a:p>
            <a:pPr algn="ctr" indent="0" marL="0">
              <a:buNone/>
            </a:pPr>
            <a:r>
              <a:rPr lang="en-US" sz="1400" b="1" dirty="0">
                <a:solidFill>
                  <a:srgbClr val="555555"/>
                </a:solidFill>
              </a:rPr>
              <a:t>→</a:t>
            </a:r>
            <a:endParaRPr lang="en-US" sz="1400" dirty="0"/>
          </a:p>
        </p:txBody>
      </p:sp>
      <p:sp>
        <p:nvSpPr>
          <p:cNvPr id="15" name="Shape 13"/>
          <p:cNvSpPr/>
          <p:nvPr/>
        </p:nvSpPr>
        <p:spPr>
          <a:xfrm>
            <a:off x="7159752" y="1143000"/>
            <a:ext cx="1572768" cy="777240"/>
          </a:xfrm>
          <a:prstGeom prst="roundRect">
            <a:avLst>
              <a:gd name="adj" fmla="val 7059"/>
            </a:avLst>
          </a:prstGeom>
          <a:solidFill>
            <a:srgbClr val="EAF1FB"/>
          </a:solidFill>
          <a:ln w="12700">
            <a:solidFill>
              <a:srgbClr val="2E5A8C"/>
            </a:solidFill>
            <a:prstDash val="solid"/>
          </a:ln>
        </p:spPr>
        <p:txBody>
          <a:bodyPr/>
          <a:p/>
        </p:txBody>
      </p:sp>
      <p:sp>
        <p:nvSpPr>
          <p:cNvPr id="16" name="Text 14"/>
          <p:cNvSpPr/>
          <p:nvPr/>
        </p:nvSpPr>
        <p:spPr>
          <a:xfrm>
            <a:off x="7159752" y="1143000"/>
            <a:ext cx="1572768" cy="777240"/>
          </a:xfrm>
          <a:prstGeom prst="rect">
            <a:avLst/>
          </a:prstGeom>
          <a:noFill/>
          <a:ln/>
        </p:spPr>
        <p:txBody>
          <a:bodyPr wrap="square" rtlCol="0" anchor="ctr"/>
          <a:lstStyle/>
          <a:p>
            <a:pPr algn="ctr" indent="0" marL="0">
              <a:buNone/>
            </a:pPr>
            <a:r>
              <a:rPr lang="en-US" sz="950" b="1" dirty="0">
                <a:solidFill>
                  <a:srgbClr val="1F2A44"/>
                </a:solidFill>
                <a:latin typeface="Calibri" pitchFamily="34" charset="0"/>
                <a:ea typeface="Calibri" pitchFamily="34" charset="-122"/>
                <a:cs typeface="Calibri" pitchFamily="34" charset="-120"/>
              </a:rPr>
              <a:t>Streamlit</a:t>
            </a:r>
            <a:endParaRPr lang="en-US" sz="950" dirty="0"/>
          </a:p>
          <a:p>
            <a:pPr algn="ctr" indent="0" marL="0">
              <a:buNone/>
            </a:pPr>
            <a:r>
              <a:rPr lang="en-US" sz="950" b="1" dirty="0">
                <a:solidFill>
                  <a:srgbClr val="1F2A44"/>
                </a:solidFill>
                <a:latin typeface="Calibri" pitchFamily="34" charset="0"/>
                <a:ea typeface="Calibri" pitchFamily="34" charset="-122"/>
                <a:cs typeface="Calibri" pitchFamily="34" charset="-120"/>
              </a:rPr>
              <a:t>Dashboard (6 pages)</a:t>
            </a:r>
            <a:endParaRPr lang="en-US" sz="950" dirty="0"/>
          </a:p>
        </p:txBody>
      </p:sp>
      <p:sp>
        <p:nvSpPr>
          <p:cNvPr id="17" name="Text 15"/>
          <p:cNvSpPr/>
          <p:nvPr/>
        </p:nvSpPr>
        <p:spPr>
          <a:xfrm>
            <a:off x="320040" y="2148840"/>
            <a:ext cx="8503920" cy="274320"/>
          </a:xfrm>
          <a:prstGeom prst="rect">
            <a:avLst/>
          </a:prstGeom>
          <a:noFill/>
          <a:ln/>
        </p:spPr>
        <p:txBody>
          <a:bodyPr wrap="square" rtlCol="0" anchor="ctr"/>
          <a:lstStyle/>
          <a:p>
            <a:pPr indent="0" marL="0">
              <a:buNone/>
            </a:pPr>
            <a:r>
              <a:rPr lang="en-US" sz="1200" b="1" dirty="0">
                <a:solidFill>
                  <a:srgbClr val="1F2A44"/>
                </a:solidFill>
              </a:rPr>
              <a:t>Lambda pipeline (8 stages, orchestrated per CloudTrail event):</a:t>
            </a:r>
            <a:endParaRPr lang="en-US" sz="1200" dirty="0"/>
          </a:p>
        </p:txBody>
      </p:sp>
      <p:sp>
        <p:nvSpPr>
          <p:cNvPr id="18" name="Text 16"/>
          <p:cNvSpPr/>
          <p:nvPr/>
        </p:nvSpPr>
        <p:spPr>
          <a:xfrm>
            <a:off x="320040" y="2450592"/>
            <a:ext cx="8503920" cy="1463040"/>
          </a:xfrm>
          <a:prstGeom prst="rect">
            <a:avLst/>
          </a:prstGeom>
          <a:noFill/>
          <a:ln/>
        </p:spPr>
        <p:txBody>
          <a:bodyPr wrap="square" rtlCol="0" anchor="t"/>
          <a:lstStyle/>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1. Feature extraction  →  2. ML anomaly scoring (IsolationForest, threshold −0.02)</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3. SHAP XAI attribution (if anomaly)  →  4. Threat classification (6 MITRE categories)</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5. IAM Deny policy generation  →  6. Access Analyzer validation</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7. Controlled remediation (state machine: SIMULATED / BLOCKED / PENDING_APPROVAL / ENFORCED)</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8. Persistence to DynamoDB + SNS alerting (Critical/High severity)</a:t>
            </a:r>
            <a:endParaRPr lang="en-US" sz="1150" dirty="0"/>
          </a:p>
        </p:txBody>
      </p:sp>
      <p:sp>
        <p:nvSpPr>
          <p:cNvPr id="19" name="Text 17"/>
          <p:cNvSpPr/>
          <p:nvPr/>
        </p:nvSpPr>
        <p:spPr>
          <a:xfrm>
            <a:off x="320040" y="3977640"/>
            <a:ext cx="8503920" cy="548640"/>
          </a:xfrm>
          <a:prstGeom prst="rect">
            <a:avLst/>
          </a:prstGeom>
          <a:noFill/>
          <a:ln/>
        </p:spPr>
        <p:txBody>
          <a:bodyPr wrap="square" rtlCol="0" anchor="ctr"/>
          <a:lstStyle/>
          <a:p>
            <a:pPr indent="0" marL="0">
              <a:buNone/>
            </a:pPr>
            <a:r>
              <a:rPr lang="en-US" sz="1100" i="1" dirty="0">
                <a:solidFill>
                  <a:srgbClr val="555555"/>
                </a:solidFill>
              </a:rPr>
              <a:t>Results are visualised on a 6-page Streamlit dashboard (Dashboard, Threat History, Analytics, ML Insights, Threat Details, Remediation Queue) plus a Live Simulation sandbox.</a:t>
            </a:r>
            <a:endParaRPr lang="en-US" sz="1100" dirty="0"/>
          </a:p>
        </p:txBody>
      </p:sp>
      <p:sp>
        <p:nvSpPr>
          <p:cNvPr id="20" name="Text 18"/>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21" name="Text 19"/>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22" name="Text 20"/>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Functional Requirements</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Ingest raw CloudTrail events (EventBridge envelope and flat-dict formats).</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Extract 5 canonical features: eventName, hour (UTC), userIdentitytype, awsRegion, isRoot.</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Score every event with IsolationForest.decision_function (threshold = −0.02).</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Run SHAP TreeExplainer on anomalous events to identify the top anomalous feature.</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Classify each anomaly into one of 6 MITRE-mapped threat categories.</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Generate a category-specific least-privilege IAM Deny policy per anomaly.</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Validate each generated policy using AWS IAM Access Analyzer.</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Persist pipeline results to DynamoDB (ThreatEvents table) and alert via SNS.</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Display results on a 6-page dashboard; allow analyst approve/reject of remediation.</a:t>
            </a:r>
            <a:endParaRPr lang="en-US" sz="1170" dirty="0"/>
          </a:p>
          <a:p>
            <a:pPr marL="342900" indent="-342900">
              <a:lnSpc>
                <a:spcPct val="108000"/>
              </a:lnSpc>
              <a:spcAft>
                <a:spcPts val="600"/>
              </a:spcAft>
              <a:buSzPct val="100000"/>
              <a:buChar char="•"/>
            </a:pPr>
            <a:r>
              <a:rPr lang="en-US" sz="1170" dirty="0">
                <a:solidFill>
                  <a:srgbClr val="111111"/>
                </a:solidFill>
                <a:latin typeface="Calibri" pitchFamily="34" charset="0"/>
                <a:ea typeface="Calibri" pitchFamily="34" charset="-122"/>
                <a:cs typeface="Calibri" pitchFamily="34" charset="-120"/>
              </a:rPr>
              <a:t>Enforce SIMULATION_MODE = true by default (no IAM changes without explicit enabling).</a:t>
            </a:r>
            <a:endParaRPr lang="en-US" sz="117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Modules</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3977640"/>
        </p:xfrm>
        <a:graphic>
          <a:graphicData uri="http://schemas.openxmlformats.org/drawingml/2006/table">
            <a:tbl>
              <a:tblPr/>
              <a:tblGrid>
                <a:gridCol w="1645920"/>
                <a:gridCol w="2377440"/>
                <a:gridCol w="4480560"/>
              </a:tblGrid>
              <a:tr h="39776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File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Responsibility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Feature Contract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ml/feature_contract.py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Deterministic feature extraction &amp; vocabulary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ML Inference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backend/ml_inference.py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score_event() — encode + IsolationForest predict</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SHAP XAI</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backend/xai_explainer.py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explain() — TreeExplainer, polarity-correct SHAP</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Threat Classifier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backend/threat_classifier.py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classify_threat() — 6-category priority rule engine</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IAM Generator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backend/iam_generator.py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generate_policy() — category-specific Deny policy JSON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Policy Validator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backend/policy_validator.py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validate_policy() — Access Analyzer integration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Remediation</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backend/remediation.py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apply_remediation() — state machine, DynamoDB, SNS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Lambda Handler</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backend/lambda_function.py</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AWS entry point — orchestrates all 8 stages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397764">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Dashboard UI</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frontend/app.py + 6 pages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111111"/>
                          </a:solidFill>
                          <a:latin typeface="Calibri" pitchFamily="34" charset="0"/>
                          <a:ea typeface="Calibri" pitchFamily="34" charset="-122"/>
                          <a:cs typeface="Calibri" pitchFamily="34" charset="-120"/>
                        </a:rPr>
                        <a:t>Streamlit dashboard, all 6 pages</a:t>
                      </a:r>
                      <a:endParaRPr lang="en-US" sz="950" dirty="0">
                        <a:latin typeface="Calibri" charset="0"/>
                        <a:ea typeface="Calibri" charset="0"/>
                        <a:cs typeface="Calibri" charset="0"/>
                      </a:endParaRPr>
                    </a:p>
                  </a:txBody>
                  <a:tcPr marL="91440" marR="91440" marT="45720" marB="45720" anchor="t">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274320" y="4937760"/>
            <a:ext cx="1828800" cy="228600"/>
          </a:xfrm>
          <a:prstGeom prst="rect">
            <a:avLst/>
          </a:prstGeom>
          <a:noFill/>
          <a:ln/>
        </p:spPr>
        <p:txBody>
          <a:bodyPr wrap="square" rtlCol="0" anchor="ctr"/>
          <a:lstStyle/>
          <a:p>
            <a:pPr indent="0" marL="0" algn="l">
              <a:buNone/>
            </a:pPr>
            <a:r>
              <a:rPr sz="1300" b="1">
                <a:solidFill>
                  <a:srgbClr val="00467F"/>
                </a:solidFill>
              </a:rPr>
              <a:t>Backend Pipeline Modules (Lambda handler orchestrates all stages)</a:t>
            </a:r>
            <a:endParaRPr lang="en-US" sz="800" dirty="0"/>
          </a:p>
          <a:p>
            <a:pPr/>
            <a:r>
              <a:rPr sz="1100" b="0"/>
              <a:t>  feature_contract.py (ml/)  —  Feature extraction and vocabulary: 5 features, 442 event names, 17 regions, 6 user types</a:t>
            </a:r>
          </a:p>
          <a:p>
            <a:pPr/>
            <a:r>
              <a:rPr sz="1100" b="0"/>
              <a:t>  ml_inference.py (backend/)  —  score_event(): loads IsolationForest + OrdinalEncoder, returns anomaly score + is_anomaly flag</a:t>
            </a:r>
          </a:p>
          <a:p>
            <a:pPr/>
            <a:r>
              <a:rPr sz="1100" b="0"/>
              <a:t>  xai_explainer.py (backend/)  —  explain(): SHAP TreeExplainer — per-feature SHAP values, attribution confidence, top anomalous feature</a:t>
            </a:r>
          </a:p>
          <a:p>
            <a:pPr/>
            <a:r>
              <a:rPr sz="1100" b="0"/>
              <a:t>  threat_classifier.py (backend/)  —  classify_threat(): 6-category priority rule engine, MITRE ATT&amp;CK mapping, enforcement eligibility</a:t>
            </a:r>
          </a:p>
          <a:p>
            <a:pPr/>
            <a:r>
              <a:rPr sz="1100" b="0"/>
              <a:t>  iam_generator.py (backend/)  —  generate_policy(): category-specific least-privilege IAM Deny policy JSON</a:t>
            </a:r>
          </a:p>
          <a:p>
            <a:pPr/>
            <a:r>
              <a:rPr sz="1100" b="0"/>
              <a:t>  policy_validator.py (backend/)  —  validate_policy(): AWS IAM Access Analyzer — CLEAN / BLOCKED / PENDING_APPROVAL [SIMULATED]</a:t>
            </a:r>
          </a:p>
          <a:p>
            <a:pPr/>
            <a:r>
              <a:rPr sz="1100" b="0"/>
              <a:t>  remediation.py (backend/)  —  apply_remediation(): state machine — SIMULATED/BLOCKED/PENDING_APPROVAL/ENFORCED + DynamoDB + SNS</a:t>
            </a:r>
          </a:p>
          <a:p>
            <a:pPr/>
            <a:r>
              <a:rPr sz="1100" b="0"/>
              <a:t>  lambda_function.py (backend/)  —  Lambda entry point — orchestrates all 8 pipeline stages per CloudTrail event</a:t>
            </a:r>
          </a:p>
          <a:p>
            <a:pPr/>
            <a:r>
              <a:rPr sz="1100" b="0"/>
              <a:t>  pipeline_runner.py (frontend/)  —  Frontend bridge: calls real backend from Streamlit Live Simulation page</a:t>
            </a:r>
          </a:p>
        </p:txBody>
      </p:sp>
      <p:sp>
        <p:nvSpPr>
          <p:cNvPr id="5" name="Text 2"/>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3"/>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Implementation Status (Audit Summary)</a:t>
            </a:r>
            <a:endParaRPr lang="en-US" sz="2200" dirty="0"/>
          </a:p>
        </p:txBody>
      </p:sp>
      <p:sp>
        <p:nvSpPr>
          <p:cNvPr id="3" name="Text 1"/>
          <p:cNvSpPr/>
          <p:nvPr/>
        </p:nvSpPr>
        <p:spPr>
          <a:xfrm>
            <a:off x="320040" y="713232"/>
            <a:ext cx="8503920" cy="228600"/>
          </a:xfrm>
          <a:prstGeom prst="rect">
            <a:avLst/>
          </a:prstGeom>
          <a:noFill/>
          <a:ln/>
        </p:spPr>
        <p:txBody>
          <a:bodyPr wrap="square" rtlCol="0" anchor="ctr"/>
          <a:lstStyle/>
          <a:p>
            <a:pPr indent="0" marL="0">
              <a:buNone/>
            </a:pPr>
            <a:r>
              <a:rPr lang="en-US" sz="1000" i="1" dirty="0">
                <a:solidFill>
                  <a:srgbClr val="555555"/>
                </a:solidFill>
              </a:rPr>
              <a:t>Verified live against actual code, model files, and test runs — nothing invented.</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987552"/>
          <a:ext cx="8503920" cy="3840480"/>
        </p:xfrm>
        <a:graphic>
          <a:graphicData uri="http://schemas.openxmlformats.org/drawingml/2006/table">
            <a:tbl>
              <a:tblPr/>
              <a:tblGrid>
                <a:gridCol w="3108960"/>
                <a:gridCol w="1737360"/>
                <a:gridCol w="3657600"/>
              </a:tblGrid>
              <a:tr h="295422">
                <a:tc>
                  <a:txBody>
                    <a:bodyPr/>
                    <a:lstStyle/>
                    <a:p>
                      <a:pPr indent="0" marL="0">
                        <a:buNone/>
                      </a:pPr>
                      <a:r>
                        <a:rPr lang="en-US" sz="870" b="1" dirty="0">
                          <a:solidFill>
                            <a:srgbClr val="FFFFFF"/>
                          </a:solidFill>
                          <a:latin typeface="Calibri" pitchFamily="34" charset="0"/>
                          <a:ea typeface="Calibri" pitchFamily="34" charset="-122"/>
                          <a:cs typeface="Calibri" pitchFamily="34" charset="-120"/>
                        </a:rPr>
                        <a:t>Component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870" b="1" dirty="0">
                          <a:solidFill>
                            <a:srgbClr val="FFFFFF"/>
                          </a:solidFill>
                          <a:latin typeface="Calibri" pitchFamily="34" charset="0"/>
                          <a:ea typeface="Calibri" pitchFamily="34" charset="-122"/>
                          <a:cs typeface="Calibri" pitchFamily="34" charset="-120"/>
                        </a:rPr>
                        <a:t>Status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870" b="1" dirty="0">
                          <a:solidFill>
                            <a:srgbClr val="FFFFFF"/>
                          </a:solidFill>
                          <a:latin typeface="Calibri" pitchFamily="34" charset="0"/>
                          <a:ea typeface="Calibri" pitchFamily="34" charset="-122"/>
                          <a:cs typeface="Calibri" pitchFamily="34" charset="-120"/>
                        </a:rPr>
                        <a:t>Verified Result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Feature extraction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8/8 unit tests pass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IsolationForest model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6 model tests + 8-event benchmark, 8/8 pass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SHAP XAI attribution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5/5 tests pass; top SHAP negative for anomalies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Threat classification (6 categories)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 (90%)</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7/7 tests pass; isRoot top-feature edge case → UNCERTAIN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IAM policy generation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8/8 tests; valid JSON, correct IAM syntax</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Access Analyzer validation</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SIMULATED</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AccessDeniedException (missing IAM permission); fallback CLEAN, clearly labelled</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Remediation state machine</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7/7 tests; all transitions correct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End-to-end Lambda pipeline</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 (mocked AWS)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2/2 E2E tests pass (mocked DynamoDB + SNS)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DynamoDB persistence</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DEMO</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Table unavailable (eu-north-1); UI uses 20 demo events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EventBridge → Lambda trigger</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ARCHITECTURE (AWS)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Deployed in AWS; not triggerable from localhost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Streamlit dashboard (6 pages)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All pages render without errors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95422">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Full test suite (pytest)</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REAL</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70" dirty="0">
                          <a:solidFill>
                            <a:srgbClr val="111111"/>
                          </a:solidFill>
                          <a:latin typeface="Calibri" pitchFamily="34" charset="0"/>
                          <a:ea typeface="Calibri" pitchFamily="34" charset="-122"/>
                          <a:cs typeface="Calibri" pitchFamily="34" charset="-120"/>
                        </a:rPr>
                        <a:t>82 / 82 PASSED in 31.30 s</a:t>
                      </a:r>
                      <a:endParaRPr lang="en-US" sz="87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6"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7"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Experiments and Results</a:t>
            </a:r>
            <a:endParaRPr lang="en-US" sz="2200" dirty="0"/>
          </a:p>
        </p:txBody>
      </p:sp>
      <p:sp>
        <p:nvSpPr>
          <p:cNvPr id="3" name="Text 1"/>
          <p:cNvSpPr/>
          <p:nvPr/>
        </p:nvSpPr>
        <p:spPr>
          <a:xfrm>
            <a:off x="320040" y="822960"/>
            <a:ext cx="4114800" cy="274320"/>
          </a:xfrm>
          <a:prstGeom prst="rect">
            <a:avLst/>
          </a:prstGeom>
          <a:noFill/>
          <a:ln/>
        </p:spPr>
        <p:txBody>
          <a:bodyPr wrap="square" rtlCol="0" anchor="ctr"/>
          <a:lstStyle/>
          <a:p>
            <a:pPr indent="0" marL="0">
              <a:buNone/>
            </a:pPr>
            <a:r>
              <a:rPr lang="en-US" sz="1300" b="1" dirty="0">
                <a:solidFill>
                  <a:srgbClr val="1F2A44"/>
                </a:solidFill>
              </a:rPr>
              <a:t>Test suite</a:t>
            </a:r>
            <a:endParaRPr lang="en-US" sz="1300" dirty="0"/>
          </a:p>
        </p:txBody>
      </p:sp>
      <p:sp>
        <p:nvSpPr>
          <p:cNvPr id="4" name="Text 2"/>
          <p:cNvSpPr/>
          <p:nvPr/>
        </p:nvSpPr>
        <p:spPr>
          <a:xfrm>
            <a:off x="320040" y="1097280"/>
            <a:ext cx="4114800" cy="457200"/>
          </a:xfrm>
          <a:prstGeom prst="rect">
            <a:avLst/>
          </a:prstGeom>
          <a:noFill/>
          <a:ln/>
        </p:spPr>
        <p:txBody>
          <a:bodyPr wrap="square" rtlCol="0" anchor="t"/>
          <a:lstStyle/>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82 / 82 tests passed (31.30 s) — python -m pytest tests/ -v</a:t>
            </a:r>
            <a:endParaRPr lang="en-US" sz="1100" dirty="0"/>
          </a:p>
        </p:txBody>
      </p:sp>
      <p:sp>
        <p:nvSpPr>
          <p:cNvPr id="5" name="Text 3"/>
          <p:cNvSpPr/>
          <p:nvPr/>
        </p:nvSpPr>
        <p:spPr>
          <a:xfrm>
            <a:off x="320040" y="1600200"/>
            <a:ext cx="4114800" cy="274320"/>
          </a:xfrm>
          <a:prstGeom prst="rect">
            <a:avLst/>
          </a:prstGeom>
          <a:noFill/>
          <a:ln/>
        </p:spPr>
        <p:txBody>
          <a:bodyPr wrap="square" rtlCol="0" anchor="ctr"/>
          <a:lstStyle/>
          <a:p>
            <a:pPr indent="0" marL="0">
              <a:buNone/>
            </a:pPr>
            <a:r>
              <a:rPr lang="en-US" sz="1300" b="1" dirty="0">
                <a:solidFill>
                  <a:srgbClr val="1F2A44"/>
                </a:solidFill>
              </a:rPr>
              <a:t>Latency (verified, live)</a:t>
            </a:r>
            <a:endParaRPr lang="en-US" sz="1300" dirty="0"/>
          </a:p>
        </p:txBody>
      </p:sp>
      <p:sp>
        <p:nvSpPr>
          <p:cNvPr id="6" name="Text 4"/>
          <p:cNvSpPr/>
          <p:nvPr/>
        </p:nvSpPr>
        <p:spPr>
          <a:xfrm>
            <a:off x="320040" y="1874520"/>
            <a:ext cx="4114800" cy="1005840"/>
          </a:xfrm>
          <a:prstGeom prst="rect">
            <a:avLst/>
          </a:prstGeom>
          <a:noFill/>
          <a:ln/>
        </p:spPr>
        <p:txBody>
          <a:bodyPr wrap="square" rtlCol="0" anchor="t"/>
          <a:lstStyle/>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ML scoring: 22.8 ms (100 runs)</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SHAP attribution: 0.77 ms (20 runs)</a:t>
            </a:r>
            <a:endParaRPr lang="en-US" sz="1050" dirty="0"/>
          </a:p>
          <a:p>
            <a:pPr marL="342900" indent="-342900">
              <a:lnSpc>
                <a:spcPct val="108000"/>
              </a:lnSpc>
              <a:spcAft>
                <a:spcPts val="600"/>
              </a:spcAft>
              <a:buSzPct val="100000"/>
              <a:buChar char="•"/>
            </a:pPr>
            <a:r>
              <a:rPr lang="en-US" sz="1050" dirty="0">
                <a:solidFill>
                  <a:srgbClr val="111111"/>
                </a:solidFill>
                <a:latin typeface="Calibri" pitchFamily="34" charset="0"/>
                <a:ea typeface="Calibri" pitchFamily="34" charset="-122"/>
                <a:cs typeface="Calibri" pitchFamily="34" charset="-120"/>
              </a:rPr>
              <a:t>Full pipeline: ~1815 ms (dominated by Access Analyzer network call)</a:t>
            </a:r>
            <a:endParaRPr lang="en-US" sz="1050" dirty="0"/>
          </a:p>
        </p:txBody>
      </p:sp>
      <p:sp>
        <p:nvSpPr>
          <p:cNvPr id="7" name="Text 5"/>
          <p:cNvSpPr/>
          <p:nvPr/>
        </p:nvSpPr>
        <p:spPr>
          <a:xfrm>
            <a:off x="4663440" y="822960"/>
            <a:ext cx="4160520" cy="457200"/>
          </a:xfrm>
          <a:prstGeom prst="rect">
            <a:avLst/>
          </a:prstGeom>
          <a:noFill/>
          <a:ln/>
        </p:spPr>
        <p:txBody>
          <a:bodyPr wrap="square" rtlCol="0" anchor="ctr"/>
          <a:lstStyle/>
          <a:p>
            <a:pPr indent="0" marL="0">
              <a:buNone/>
            </a:pPr>
            <a:r>
              <a:rPr lang="en-US" sz="1200" b="1" dirty="0">
                <a:solidFill>
                  <a:srgbClr val="1F2A44"/>
                </a:solidFill>
              </a:rPr>
              <a:t>8-event benchmark (small hand-labelled set — NOT a full evaluation)</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1298448"/>
          <a:ext cx="4160520" cy="1463040"/>
        </p:xfrm>
        <a:graphic>
          <a:graphicData uri="http://schemas.openxmlformats.org/drawingml/2006/table">
            <a:tbl>
              <a:tblPr/>
              <a:tblGrid>
                <a:gridCol w="2377440"/>
                <a:gridCol w="1783080"/>
              </a:tblGrid>
              <a:tr h="2438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2E5A8C"/>
                    </a:solidFill>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0.800 (4/5)</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1.000 (4/4)</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0.889</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 Positive Rate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0.250 (1/4)</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4384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TP / FP / TN / FN</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 / 1 / 3 / 0</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9" name="Text 6"/>
          <p:cNvSpPr/>
          <p:nvPr/>
        </p:nvSpPr>
        <p:spPr>
          <a:xfrm>
            <a:off x="4663440" y="2834640"/>
            <a:ext cx="4160520" cy="914400"/>
          </a:xfrm>
          <a:prstGeom prst="rect">
            <a:avLst/>
          </a:prstGeom>
          <a:noFill/>
          <a:ln/>
        </p:spPr>
        <p:txBody>
          <a:bodyPr wrap="square" rtlCol="0" anchor="ctr"/>
          <a:lstStyle/>
          <a:p>
            <a:pPr indent="0" marL="0">
              <a:buNone/>
            </a:pPr>
            <a:r>
              <a:rPr lang="en-US" sz="900" i="1" dirty="0">
                <a:solidFill>
                  <a:srgbClr val="555555"/>
                </a:solidFill>
              </a:rPr>
              <a:t>Note: based on only 8 hand-labelled events (4 anomalous, 4 normal). Not a holdout/representative evaluation set — 1 borderline false positive (DescribeInstances, score −0.0201, just past the −0.02 threshold).</a:t>
            </a:r>
            <a:endParaRPr lang="en-US" sz="900" dirty="0"/>
          </a:p>
        </p:txBody>
      </p:sp>
      <p:sp>
        <p:nvSpPr>
          <p:cNvPr id="10" name="Text 7"/>
          <p:cNvSpPr/>
          <p:nvPr/>
        </p:nvSpPr>
        <p:spPr>
          <a:xfrm>
            <a:off x="320040" y="3886200"/>
            <a:ext cx="8503920" cy="274320"/>
          </a:xfrm>
          <a:prstGeom prst="rect">
            <a:avLst/>
          </a:prstGeom>
          <a:noFill/>
          <a:ln/>
        </p:spPr>
        <p:txBody>
          <a:bodyPr wrap="square" rtlCol="0" anchor="ctr"/>
          <a:lstStyle/>
          <a:p>
            <a:pPr indent="0" marL="0">
              <a:buNone/>
            </a:pPr>
            <a:r>
              <a:rPr lang="en-US" sz="1100" i="1" dirty="0">
                <a:solidFill>
                  <a:srgbClr val="B40000"/>
                </a:solidFill>
              </a:rPr>
              <a:t>[Screenshots: provide dashboard screenshots manually before submission]</a:t>
            </a:r>
            <a:endParaRPr lang="en-US" sz="1000" dirty="0"/>
          </a:p>
        </p:txBody>
      </p:sp>
      <p:sp>
        <p:nvSpPr>
          <p:cNvPr id="11" name="Text 8"/>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12" name="Text 9"/>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13" name="Text 10"/>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Real vs Simulated / Current Limitations</a:t>
            </a:r>
            <a:endParaRPr lang="en-US" sz="2200" dirty="0"/>
          </a:p>
        </p:txBody>
      </p:sp>
      <p:sp>
        <p:nvSpPr>
          <p:cNvPr id="3" name="Text 1"/>
          <p:cNvSpPr/>
          <p:nvPr/>
        </p:nvSpPr>
        <p:spPr>
          <a:xfrm>
            <a:off x="320040" y="822960"/>
            <a:ext cx="4114800" cy="274320"/>
          </a:xfrm>
          <a:prstGeom prst="rect">
            <a:avLst/>
          </a:prstGeom>
          <a:noFill/>
          <a:ln/>
        </p:spPr>
        <p:txBody>
          <a:bodyPr wrap="square" rtlCol="0" anchor="ctr"/>
          <a:lstStyle/>
          <a:p>
            <a:pPr indent="0" marL="0">
              <a:buNone/>
            </a:pPr>
            <a:r>
              <a:rPr lang="en-US" sz="1300" b="1" dirty="0">
                <a:solidFill>
                  <a:srgbClr val="1F2A44"/>
                </a:solidFill>
              </a:rPr>
              <a:t>Real vs Simulated</a:t>
            </a:r>
            <a:endParaRPr lang="en-US" sz="1300" dirty="0"/>
          </a:p>
        </p:txBody>
      </p:sp>
      <p:sp>
        <p:nvSpPr>
          <p:cNvPr id="4" name="Text 2"/>
          <p:cNvSpPr/>
          <p:nvPr/>
        </p:nvSpPr>
        <p:spPr>
          <a:xfrm>
            <a:off x="320040" y="1097280"/>
            <a:ext cx="4114800" cy="91440"/>
          </a:xfrm>
          <a:prstGeom prst="rect">
            <a:avLst/>
          </a:prstGeom>
          <a:noFill/>
          <a:ln/>
        </p:spPr>
        <p:txBody>
          <a:bodyPr wrap="square" rtlCol="0" anchor="t"/>
          <a:lstStyle/>
          <a:p>
            <a:pPr indent="0" marL="0">
              <a:lnSpc>
                <a:spcPct val="108000"/>
              </a:lnSpc>
              <a:spcAft>
                <a:spcPts val="600"/>
              </a:spcAft>
              <a:buNone/>
            </a:pPr>
            <a:r>
              <a:rPr lang="en-US" sz="1300" b="1" dirty="0">
                <a:solidFill>
                  <a:srgbClr val="111111"/>
                </a:solidFill>
                <a:latin typeface="Calibri" pitchFamily="34" charset="0"/>
                <a:ea typeface="Calibri" pitchFamily="34" charset="-122"/>
                <a:cs typeface="Calibri" pitchFamily="34" charset="-120"/>
              </a:rPr>
              <a:t>REAL: </a:t>
            </a:r>
            <a:endParaRPr lang="en-US" sz="1300" dirty="0"/>
          </a:p>
        </p:txBody>
      </p:sp>
      <p:sp>
        <p:nvSpPr>
          <p:cNvPr id="5" name="Text 3"/>
          <p:cNvSpPr/>
          <p:nvPr/>
        </p:nvSpPr>
        <p:spPr>
          <a:xfrm>
            <a:off x="320040" y="1143000"/>
            <a:ext cx="4114800" cy="2194560"/>
          </a:xfrm>
          <a:prstGeom prst="rect">
            <a:avLst/>
          </a:prstGeom>
          <a:noFill/>
          <a:ln/>
        </p:spPr>
        <p:txBody>
          <a:bodyPr wrap="square" rtlCol="0" anchor="t"/>
          <a:lstStyle/>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REAL — IsolationForest scoring, SHAP attribution, feature extraction, threat classification, IAM policy JSON</a:t>
            </a:r>
            <a:endParaRPr lang="en-US" sz="1030" dirty="0"/>
          </a:p>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SIMULATED — IAM enforcement (SIMULATION_MODE), Access Analyzer validation (permission missing)</a:t>
            </a:r>
            <a:endParaRPr lang="en-US" sz="1030" dirty="0"/>
          </a:p>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DEMO — DynamoDB reads (table unavailable; 20 demo events)</a:t>
            </a:r>
            <a:endParaRPr lang="en-US" sz="1030" dirty="0"/>
          </a:p>
          <a:p>
            <a:pPr marL="342900" indent="-342900">
              <a:lnSpc>
                <a:spcPct val="108000"/>
              </a:lnSpc>
              <a:spcAft>
                <a:spcPts val="600"/>
              </a:spcAft>
              <a:buSzPct val="100000"/>
              <a:buChar char="•"/>
            </a:pPr>
            <a:r>
              <a:rPr lang="en-US" sz="1030" dirty="0">
                <a:solidFill>
                  <a:srgbClr val="111111"/>
                </a:solidFill>
                <a:latin typeface="Calibri" pitchFamily="34" charset="0"/>
                <a:ea typeface="Calibri" pitchFamily="34" charset="-122"/>
                <a:cs typeface="Calibri" pitchFamily="34" charset="-120"/>
              </a:rPr>
              <a:t>REAL (AWS, not local) — EventBridge → Lambda trigger</a:t>
            </a:r>
            <a:endParaRPr lang="en-US" sz="1030" dirty="0"/>
          </a:p>
        </p:txBody>
      </p:sp>
      <p:sp>
        <p:nvSpPr>
          <p:cNvPr id="6" name="Text 4"/>
          <p:cNvSpPr/>
          <p:nvPr/>
        </p:nvSpPr>
        <p:spPr>
          <a:xfrm>
            <a:off x="4663440" y="822960"/>
            <a:ext cx="4160520" cy="274320"/>
          </a:xfrm>
          <a:prstGeom prst="rect">
            <a:avLst/>
          </a:prstGeom>
          <a:noFill/>
          <a:ln/>
        </p:spPr>
        <p:txBody>
          <a:bodyPr wrap="square" rtlCol="0" anchor="ctr"/>
          <a:lstStyle/>
          <a:p>
            <a:pPr indent="0" marL="0">
              <a:buNone/>
            </a:pPr>
            <a:r>
              <a:rPr lang="en-US" sz="1300" b="1" dirty="0">
                <a:solidFill>
                  <a:srgbClr val="1F2A44"/>
                </a:solidFill>
              </a:rPr>
              <a:t>Current Limitations</a:t>
            </a:r>
            <a:endParaRPr lang="en-US" sz="1300" dirty="0"/>
          </a:p>
        </p:txBody>
      </p:sp>
      <p:sp>
        <p:nvSpPr>
          <p:cNvPr id="7" name="Text 5"/>
          <p:cNvSpPr/>
          <p:nvPr/>
        </p:nvSpPr>
        <p:spPr>
          <a:xfrm>
            <a:off x="4663440" y="1097280"/>
            <a:ext cx="4160520" cy="2377440"/>
          </a:xfrm>
          <a:prstGeom prst="rect">
            <a:avLst/>
          </a:prstGeom>
          <a:noFill/>
          <a:ln/>
        </p:spPr>
        <p:txBody>
          <a:bodyPr wrap="square" rtlCol="0" anchor="t"/>
          <a:lstStyle/>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isRoot top-SHAP-feature Root scenarios classify as UNCERTAIN, not DEFENSE_EVASION/PRIVILEGE_ESCALATION</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Access Analyzer validation simulated — cloudguard-test IAM user lacks ValidatePolicy permission</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DynamoDB (eu-north-1) unreachable — dashboard runs on demo data</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No labelled holdout evaluation set — only an 8-event benchmark</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Full pipeline latency (~1815 ms) dominated by Access Analyzer network round-trip</a:t>
            </a:r>
            <a:endParaRPr lang="en-US" sz="1000" dirty="0"/>
          </a:p>
          <a:p>
            <a:pPr marL="342900" indent="-342900">
              <a:lnSpc>
                <a:spcPct val="108000"/>
              </a:lnSpc>
              <a:spcAft>
                <a:spcPts val="600"/>
              </a:spcAft>
              <a:buSzPct val="100000"/>
              <a:buChar char="•"/>
            </a:pPr>
            <a:r>
              <a:rPr lang="en-US" sz="1000" dirty="0">
                <a:solidFill>
                  <a:srgbClr val="111111"/>
                </a:solidFill>
                <a:latin typeface="Calibri" pitchFamily="34" charset="0"/>
                <a:ea typeface="Calibri" pitchFamily="34" charset="-122"/>
                <a:cs typeface="Calibri" pitchFamily="34" charset="-120"/>
              </a:rPr>
              <a:t>Static model — no periodic retraining pipeline yet</a:t>
            </a:r>
            <a:endParaRPr lang="en-US" sz="1000" dirty="0"/>
          </a:p>
        </p:txBody>
      </p:sp>
      <p:sp>
        <p:nvSpPr>
          <p:cNvPr id="8" name="Text 6"/>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9" name="Text 7"/>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10" name="Text 8"/>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Conclusion and Future Work</a:t>
            </a:r>
            <a:endParaRPr lang="en-US" sz="2200" dirty="0"/>
          </a:p>
        </p:txBody>
      </p:sp>
      <p:sp>
        <p:nvSpPr>
          <p:cNvPr id="3" name="Text 1"/>
          <p:cNvSpPr/>
          <p:nvPr/>
        </p:nvSpPr>
        <p:spPr>
          <a:xfrm>
            <a:off x="320040" y="822960"/>
            <a:ext cx="8503920" cy="274320"/>
          </a:xfrm>
          <a:prstGeom prst="rect">
            <a:avLst/>
          </a:prstGeom>
          <a:noFill/>
          <a:ln/>
        </p:spPr>
        <p:txBody>
          <a:bodyPr wrap="square" rtlCol="0" anchor="ctr"/>
          <a:lstStyle/>
          <a:p>
            <a:pPr indent="0" marL="0">
              <a:buNone/>
            </a:pPr>
            <a:r>
              <a:rPr lang="en-US" sz="1300" b="1" dirty="0">
                <a:solidFill>
                  <a:srgbClr val="1F2A44"/>
                </a:solidFill>
              </a:rPr>
              <a:t>Conclusion</a:t>
            </a:r>
            <a:endParaRPr lang="en-US" sz="1300" dirty="0"/>
          </a:p>
        </p:txBody>
      </p:sp>
      <p:sp>
        <p:nvSpPr>
          <p:cNvPr id="4" name="Text 2"/>
          <p:cNvSpPr/>
          <p:nvPr/>
        </p:nvSpPr>
        <p:spPr>
          <a:xfrm>
            <a:off x="320040" y="1097280"/>
            <a:ext cx="8503920" cy="1188720"/>
          </a:xfrm>
          <a:prstGeom prst="rect">
            <a:avLst/>
          </a:prstGeom>
          <a:noFill/>
          <a:ln/>
        </p:spPr>
        <p:txBody>
          <a:bodyPr wrap="square" rtlCol="0" anchor="t"/>
          <a:lstStyle/>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CloudGuard's core ML pipeline — IsolationForest anomaly detection (1.93M events), SHAP explainability, MITRE ATT&amp;CK classification, and IAM policy generation — is implemented and verified (82/82 tests pass).</a:t>
            </a:r>
            <a:endParaRPr lang="en-US" sz="1150" dirty="0"/>
          </a:p>
          <a:p>
            <a:pPr marL="342900" indent="-342900">
              <a:lnSpc>
                <a:spcPct val="108000"/>
              </a:lnSpc>
              <a:spcAft>
                <a:spcPts val="600"/>
              </a:spcAft>
              <a:buSzPct val="100000"/>
              <a:buChar char="•"/>
            </a:pPr>
            <a:r>
              <a:rPr lang="en-US" sz="1150" dirty="0">
                <a:solidFill>
                  <a:srgbClr val="111111"/>
                </a:solidFill>
                <a:latin typeface="Calibri" pitchFamily="34" charset="0"/>
                <a:ea typeface="Calibri" pitchFamily="34" charset="-122"/>
                <a:cs typeface="Calibri" pitchFamily="34" charset="-120"/>
              </a:rPr>
              <a:t>Access Analyzer validation, DynamoDB persistence, and live EventBridge triggering remain simulated/demo pending IAM permission, connectivity, and cloud deployment fixes.</a:t>
            </a:r>
            <a:endParaRPr lang="en-US" sz="1150" dirty="0"/>
          </a:p>
        </p:txBody>
      </p:sp>
      <p:sp>
        <p:nvSpPr>
          <p:cNvPr id="5" name="Text 3"/>
          <p:cNvSpPr/>
          <p:nvPr/>
        </p:nvSpPr>
        <p:spPr>
          <a:xfrm>
            <a:off x="320040" y="2331720"/>
            <a:ext cx="8503920" cy="274320"/>
          </a:xfrm>
          <a:prstGeom prst="rect">
            <a:avLst/>
          </a:prstGeom>
          <a:noFill/>
          <a:ln/>
        </p:spPr>
        <p:txBody>
          <a:bodyPr wrap="square" rtlCol="0" anchor="ctr"/>
          <a:lstStyle/>
          <a:p>
            <a:pPr indent="0" marL="0">
              <a:buNone/>
            </a:pPr>
            <a:r>
              <a:rPr lang="en-US" sz="1300" b="1" dirty="0">
                <a:solidFill>
                  <a:srgbClr val="1F2A44"/>
                </a:solidFill>
              </a:rPr>
              <a:t>Future Work</a:t>
            </a:r>
            <a:endParaRPr lang="en-US" sz="1300" dirty="0"/>
          </a:p>
        </p:txBody>
      </p:sp>
      <p:sp>
        <p:nvSpPr>
          <p:cNvPr id="6" name="Text 4"/>
          <p:cNvSpPr/>
          <p:nvPr/>
        </p:nvSpPr>
        <p:spPr>
          <a:xfrm>
            <a:off x="320040" y="2606040"/>
            <a:ext cx="8503920" cy="2011680"/>
          </a:xfrm>
          <a:prstGeom prst="rect">
            <a:avLst/>
          </a:prstGeom>
          <a:noFill/>
          <a:ln/>
        </p:spPr>
        <p:txBody>
          <a:bodyPr wrap="square" rtlCol="0" anchor="t"/>
          <a:lstStyle/>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Fix threat classifier for top_feature == "isRoot" scenarios.</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Add access-analyzer:ValidatePolicy permission for real validation.</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Restore DynamoDB connectivity; add periodic model retraining.</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Build a labelled evaluation benchmark beyond the 8-event set; tune the anomaly threshold via precision–recall analysis.</a:t>
            </a:r>
            <a:endParaRPr lang="en-US" sz="1100" dirty="0"/>
          </a:p>
          <a:p>
            <a:pPr marL="342900" indent="-342900">
              <a:lnSpc>
                <a:spcPct val="108000"/>
              </a:lnSpc>
              <a:spcAft>
                <a:spcPts val="600"/>
              </a:spcAft>
              <a:buSzPct val="100000"/>
              <a:buChar char="•"/>
            </a:pPr>
            <a:r>
              <a:rPr lang="en-US" sz="1100" dirty="0">
                <a:solidFill>
                  <a:srgbClr val="111111"/>
                </a:solidFill>
                <a:latin typeface="Calibri" pitchFamily="34" charset="0"/>
                <a:ea typeface="Calibri" pitchFamily="34" charset="-122"/>
                <a:cs typeface="Calibri" pitchFamily="34" charset="-120"/>
              </a:rPr>
              <a:t>Add authentication/RBAC to the dashboard; extend to multi-account AWS Organizations.</a:t>
            </a:r>
            <a:endParaRPr lang="en-US" sz="1100" dirty="0"/>
          </a:p>
        </p:txBody>
      </p:sp>
      <p:sp>
        <p:nvSpPr>
          <p:cNvPr id="7" name="Text 5"/>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8" name="Text 6"/>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9" name="Text 7"/>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201168"/>
            <a:ext cx="8503920" cy="502920"/>
          </a:xfrm>
          <a:prstGeom prst="rect">
            <a:avLst/>
          </a:prstGeom>
          <a:noFill/>
          <a:ln/>
        </p:spPr>
        <p:txBody>
          <a:bodyPr wrap="square" rtlCol="0" anchor="ctr"/>
          <a:lstStyle/>
          <a:p>
            <a:pPr indent="0" marL="0">
              <a:buNone/>
            </a:pPr>
            <a:r>
              <a:rPr lang="en-US" sz="2200" b="1" dirty="0">
                <a:solidFill>
                  <a:srgbClr val="111111"/>
                </a:solidFill>
                <a:latin typeface="Calibri" pitchFamily="34" charset="0"/>
                <a:ea typeface="Calibri" pitchFamily="34" charset="-122"/>
                <a:cs typeface="Calibri" pitchFamily="34" charset="-120"/>
              </a:rPr>
              <a:t>References</a:t>
            </a:r>
            <a:endParaRPr lang="en-US" sz="2200" dirty="0"/>
          </a:p>
        </p:txBody>
      </p:sp>
      <p:sp>
        <p:nvSpPr>
          <p:cNvPr id="3" name="Text 1"/>
          <p:cNvSpPr/>
          <p:nvPr/>
        </p:nvSpPr>
        <p:spPr>
          <a:xfrm>
            <a:off x="320040" y="868680"/>
            <a:ext cx="8503920" cy="3931920"/>
          </a:xfrm>
          <a:prstGeom prst="rect">
            <a:avLst/>
          </a:prstGeom>
          <a:noFill/>
          <a:ln/>
        </p:spPr>
        <p:txBody>
          <a:bodyPr wrap="square" rtlCol="0" anchor="t"/>
          <a:lstStyle/>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[1] F. T. Liu, K. M. Ting, and Z.-H. Zhou, "Isolation Forest," in Proc. IEEE ICDM, Pisa, Italy, 2008, pp. 413–422.</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[2] S. M. Lundberg and S.-I. Lee, "A unified approach to interpreting model predictions," NeurIPS, vol. 30, 2017.</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[3] B. E. Strom et al., "MITRE ATT&amp;CK: Design and Philosophy," MITRE Corporation, Tech. Rep., 2018.</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[4] Amazon Web Services, "AWS CloudTrail Documentation," 2023.</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[5] Amazon Web Services, "AWS IAM Access Analyzer Documentation," 2023.</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[6] F. Pedregosa et al., "Scikit-learn: Machine Learning in Python," JMLR, vol. 12, pp. 2825–2830, 2011.</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[7] I. S. K. Varma and K. Ramya, "An Explainable ML and LLM Framework for Anomaly Detection in AWS CloudTrail Logs," ICNGN, 2025.</a:t>
            </a:r>
            <a:endParaRPr lang="en-US" sz="1130" dirty="0"/>
          </a:p>
          <a:p>
            <a:pPr marL="342900" indent="-342900">
              <a:lnSpc>
                <a:spcPct val="108000"/>
              </a:lnSpc>
              <a:spcAft>
                <a:spcPts val="600"/>
              </a:spcAft>
              <a:buSzPct val="100000"/>
              <a:buChar char="•"/>
            </a:pPr>
            <a:r>
              <a:rPr lang="en-US" sz="1130" dirty="0">
                <a:solidFill>
                  <a:srgbClr val="111111"/>
                </a:solidFill>
                <a:latin typeface="Calibri" pitchFamily="34" charset="0"/>
                <a:ea typeface="Calibri" pitchFamily="34" charset="-122"/>
                <a:cs typeface="Calibri" pitchFamily="34" charset="-120"/>
              </a:rPr>
              <a:t>[8] P. Arul Selvam and P. Tamije Selvy, "XAI for Insider Threat Detection: Balancing Security and Transparency in Cloud Computing," CCPE, 2025.</a:t>
            </a:r>
            <a:endParaRPr lang="en-US" sz="1130" dirty="0"/>
          </a:p>
        </p:txBody>
      </p:sp>
      <p:sp>
        <p:nvSpPr>
          <p:cNvPr id="4" name="Text 2"/>
          <p:cNvSpPr/>
          <p:nvPr/>
        </p:nvSpPr>
        <p:spPr>
          <a:xfrm>
            <a:off x="274320" y="4937760"/>
            <a:ext cx="1828800" cy="22860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08-09-2026</a:t>
            </a:r>
            <a:endParaRPr lang="en-US" sz="800" dirty="0"/>
          </a:p>
        </p:txBody>
      </p:sp>
      <p:sp>
        <p:nvSpPr>
          <p:cNvPr id="5" name="Text 3"/>
          <p:cNvSpPr/>
          <p:nvPr/>
        </p:nvSpPr>
        <p:spPr>
          <a:xfrm>
            <a:off x="3794760" y="4937760"/>
            <a:ext cx="1554480" cy="22860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SCOPE</a:t>
            </a:r>
            <a:endParaRPr lang="en-US" sz="800" dirty="0"/>
          </a:p>
        </p:txBody>
      </p:sp>
      <p:sp>
        <p:nvSpPr>
          <p:cNvPr id="6" name="Text 4"/>
          <p:cNvSpPr/>
          <p:nvPr/>
        </p:nvSpPr>
        <p:spPr>
          <a:xfrm>
            <a:off x="8412480" y="4937760"/>
            <a:ext cx="457200" cy="22860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2026-09-07T18:19:27Z</dcterms:created>
  <dcterms:modified xsi:type="dcterms:W3CDTF">2026-09-07T18:19:27Z</dcterms:modified>
</cp:coreProperties>
</file>