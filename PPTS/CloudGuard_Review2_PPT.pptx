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502920"/>
            <a:ext cx="8229600" cy="365760"/>
          </a:xfrm>
          <a:prstGeom prst="rect">
            <a:avLst/>
          </a:prstGeom>
          <a:noFill/>
          <a:ln/>
        </p:spPr>
        <p:txBody>
          <a:bodyPr wrap="square" rtlCol="0" anchor="ctr"/>
          <a:lstStyle/>
          <a:p>
            <a:pPr algn="ctr" indent="0" marL="0">
              <a:buNone/>
            </a:pPr>
            <a:r>
              <a:rPr lang="en-US" sz="1500" b="1" dirty="0">
                <a:solidFill>
                  <a:srgbClr val="555555"/>
                </a:solidFill>
                <a:latin typeface="Calibri" pitchFamily="34" charset="0"/>
                <a:ea typeface="Calibri" pitchFamily="34" charset="-122"/>
                <a:cs typeface="Calibri" pitchFamily="34" charset="-120"/>
              </a:rPr>
              <a:t>B.Tech BCSE497J – Project I, Review-2</a:t>
            </a:r>
            <a:endParaRPr lang="en-US" sz="1500" dirty="0"/>
          </a:p>
        </p:txBody>
      </p:sp>
      <p:sp>
        <p:nvSpPr>
          <p:cNvPr id="3" name="Text 1"/>
          <p:cNvSpPr/>
          <p:nvPr/>
        </p:nvSpPr>
        <p:spPr>
          <a:xfrm>
            <a:off x="640080" y="1371600"/>
            <a:ext cx="7863840" cy="1188720"/>
          </a:xfrm>
          <a:prstGeom prst="rect">
            <a:avLst/>
          </a:prstGeom>
          <a:noFill/>
          <a:ln/>
        </p:spPr>
        <p:txBody>
          <a:bodyPr wrap="square" rtlCol="0" anchor="ctr"/>
          <a:lstStyle/>
          <a:p>
            <a:pPr algn="ctr" indent="0" marL="0">
              <a:buNone/>
            </a:pPr>
            <a:r>
              <a:rPr lang="en-US" sz="2200" b="1" dirty="0">
                <a:solidFill>
                  <a:srgbClr val="1F2A44"/>
                </a:solidFill>
                <a:latin typeface="Calibri" pitchFamily="34" charset="0"/>
                <a:ea typeface="Calibri" pitchFamily="34" charset="-122"/>
                <a:cs typeface="Calibri" pitchFamily="34" charset="-120"/>
              </a:rPr>
              <a:t>CloudGuard: An Explainable AI Framework for Adaptive Threat</a:t>
            </a:r>
            <a:endParaRPr lang="en-US" sz="2200" dirty="0"/>
          </a:p>
          <a:p>
            <a:pPr algn="ctr" indent="0" marL="0">
              <a:buNone/>
            </a:pPr>
            <a:r>
              <a:rPr lang="en-US" sz="2200" b="1" dirty="0">
                <a:solidFill>
                  <a:srgbClr val="1F2A44"/>
                </a:solidFill>
                <a:latin typeface="Calibri" pitchFamily="34" charset="0"/>
                <a:ea typeface="Calibri" pitchFamily="34" charset="-122"/>
                <a:cs typeface="Calibri" pitchFamily="34" charset="-120"/>
              </a:rPr>
              <a:t>Detection and IAM-Based Remediation in AWS CloudTrail Events</a:t>
            </a:r>
            <a:endParaRPr lang="en-US" sz="2200" dirty="0"/>
          </a:p>
        </p:txBody>
      </p:sp>
      <p:sp>
        <p:nvSpPr>
          <p:cNvPr id="4" name="Text 2"/>
          <p:cNvSpPr/>
          <p:nvPr/>
        </p:nvSpPr>
        <p:spPr>
          <a:xfrm>
            <a:off x="2743200" y="3200400"/>
            <a:ext cx="3657600" cy="1463040"/>
          </a:xfrm>
          <a:prstGeom prst="rect">
            <a:avLst/>
          </a:prstGeom>
          <a:noFill/>
          <a:ln/>
        </p:spPr>
        <p:txBody>
          <a:bodyPr wrap="square"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Team member:
</a:t>
            </a:r>
            <a:endParaRPr lang="en-US" sz="1300" dirty="0"/>
          </a:p>
          <a:p>
            <a:pPr algn="ctr" indent="0" marL="0">
              <a:buNone/>
            </a:pPr>
            <a:r>
              <a:rPr lang="en-US" sz="1300" dirty="0">
                <a:solidFill>
                  <a:srgbClr val="111111"/>
                </a:solidFill>
                <a:latin typeface="Calibri" pitchFamily="34" charset="0"/>
                <a:ea typeface="Calibri" pitchFamily="34" charset="-122"/>
                <a:cs typeface="Calibri" pitchFamily="34" charset="-120"/>
              </a:rPr>
              <a:t>Sanidhya Bhandari   (23BCT0029)
</a:t>
            </a:r>
            <a:endParaRPr lang="en-US" sz="1300" dirty="0"/>
          </a:p>
          <a:p>
            <a:pPr algn="ctr" indent="0" marL="0">
              <a:buNone/>
            </a:pPr>
            <a:r>
              <a:rPr lang="en-US" sz="1300" b="1" dirty="0">
                <a:solidFill>
                  <a:srgbClr val="111111"/>
                </a:solidFill>
                <a:latin typeface="Calibri" pitchFamily="34" charset="0"/>
                <a:ea typeface="Calibri" pitchFamily="34" charset="-122"/>
                <a:cs typeface="Calibri" pitchFamily="34" charset="-120"/>
              </a:rPr>
              <a:t>Faculty guide:
</a:t>
            </a:r>
            <a:endParaRPr lang="en-US" sz="1300" dirty="0"/>
          </a:p>
          <a:p>
            <a:pPr algn="ctr" indent="0" marL="0">
              <a:buNone/>
            </a:pPr>
            <a:r>
              <a:rPr lang="en-US" sz="1300" dirty="0">
                <a:solidFill>
                  <a:srgbClr val="111111"/>
                </a:solidFill>
                <a:latin typeface="Calibri" pitchFamily="34" charset="0"/>
                <a:ea typeface="Calibri" pitchFamily="34" charset="-122"/>
                <a:cs typeface="Calibri" pitchFamily="34" charset="-120"/>
              </a:rPr>
              <a:t>Dr. Badrinath N</a:t>
            </a:r>
            <a:endParaRPr lang="en-US" sz="1300" dirty="0"/>
          </a:p>
        </p:txBody>
      </p:sp>
      <p:sp>
        <p:nvSpPr>
          <p:cNvPr id="5" name="Text 3"/>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6" name="Text 4"/>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7" name="Text 5"/>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Approval Mail From Guide</a:t>
            </a:r>
            <a:endParaRPr lang="en-US" sz="2200" dirty="0"/>
          </a:p>
        </p:txBody>
      </p:sp>
      <p:sp>
        <p:nvSpPr>
          <p:cNvPr id="3" name="Text 1"/>
          <p:cNvSpPr/>
          <p:nvPr/>
        </p:nvSpPr>
        <p:spPr>
          <a:xfrm>
            <a:off x="320040" y="868680"/>
            <a:ext cx="8503920" cy="3931920"/>
          </a:xfrm>
          <a:prstGeom prst="rect">
            <a:avLst/>
          </a:prstGeom>
          <a:noFill/>
          <a:ln/>
        </p:spPr>
        <p:txBody>
          <a:bodyPr wrap="square" rtlCol="0" anchor="t"/>
          <a:lstStyle/>
          <a:p>
            <a:pPr marL="342900" indent="-342900">
              <a:lnSpc>
                <a:spcPct val="108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Guide approval to be obtained by email before the Review-2 date (sample checklist below), per department guidelines.</a:t>
            </a:r>
            <a:endParaRPr lang="en-US" sz="1300" dirty="0"/>
          </a:p>
          <a:p>
            <a:pPr marL="342900" indent="-342900">
              <a:lnSpc>
                <a:spcPct val="108000"/>
              </a:lnSpc>
              <a:spcAft>
                <a:spcPts val="400"/>
              </a:spcAft>
              <a:buSzPct val="100000"/>
              <a:buChar char="•"/>
            </a:pPr>
            <a:r>
              <a:rPr lang="en-US" sz="1300" b="1" dirty="0">
                <a:solidFill>
                  <a:srgbClr val="111111"/>
                </a:solidFill>
                <a:latin typeface="Calibri" pitchFamily="34" charset="0"/>
                <a:ea typeface="Calibri" pitchFamily="34" charset="-122"/>
                <a:cs typeface="Calibri" pitchFamily="34" charset="-120"/>
              </a:rPr>
              <a:t>Checklist to confirm with guide:</a:t>
            </a:r>
            <a:endParaRPr lang="en-US" sz="1300" dirty="0"/>
          </a:p>
          <a:p>
            <a:pPr lvl="1" marL="685800" indent="-342900">
              <a:lnSpc>
                <a:spcPct val="108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Meeting with Guide Frequency — Satisfied / Not-Satisfied</a:t>
            </a:r>
            <a:endParaRPr lang="en-US" sz="1300" dirty="0"/>
          </a:p>
          <a:p>
            <a:pPr lvl="1" marL="685800" indent="-342900">
              <a:lnSpc>
                <a:spcPct val="108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PowerPoint Presentation — Approved / Not-Approved</a:t>
            </a:r>
            <a:endParaRPr lang="en-US" sz="1300" dirty="0"/>
          </a:p>
          <a:p>
            <a:pPr lvl="1" marL="685800" indent="-342900">
              <a:lnSpc>
                <a:spcPct val="108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Project Demonstration — Approved / Not-Approved</a:t>
            </a:r>
            <a:endParaRPr lang="en-US" sz="1300" dirty="0"/>
          </a:p>
          <a:p>
            <a:pPr lvl="1" marL="685800" indent="-342900">
              <a:lnSpc>
                <a:spcPct val="108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Project Report Draft — Satisfied / Not-Satisfied</a:t>
            </a:r>
            <a:endParaRPr lang="en-US" sz="1300" dirty="0"/>
          </a:p>
          <a:p>
            <a:pPr lvl="1" marL="685800" indent="-342900">
              <a:lnSpc>
                <a:spcPct val="108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Project Outcome — Ongoing / Completed</a:t>
            </a:r>
            <a:endParaRPr lang="en-US" sz="1300" dirty="0"/>
          </a:p>
          <a:p>
            <a:pPr marL="342900" indent="-342900">
              <a:lnSpc>
                <a:spcPct val="108000"/>
              </a:lnSpc>
              <a:spcAft>
                <a:spcPts val="1000"/>
              </a:spcAft>
              <a:buSzPct val="100000"/>
              <a:buChar char="•"/>
            </a:pPr>
            <a:r>
              <a:rPr lang="en-US" sz="1300" dirty="0">
                <a:solidFill>
                  <a:srgbClr val="B03A2E"/>
                </a:solidFill>
                <a:latin typeface="Calibri" pitchFamily="34" charset="0"/>
                <a:ea typeface="Calibri" pitchFamily="34" charset="-122"/>
                <a:cs typeface="Calibri" pitchFamily="34" charset="-120"/>
              </a:rPr>
              <a:t>[Insert guide's approval email screenshot here before submission]</a:t>
            </a:r>
            <a:endParaRPr lang="en-US" sz="1300" dirty="0"/>
          </a:p>
        </p:txBody>
      </p:sp>
      <p:sp>
        <p:nvSpPr>
          <p:cNvPr id="4" name="Text 2"/>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5" name="Text 3"/>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4"/>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Aim</a:t>
            </a:r>
            <a:endParaRPr lang="en-US" sz="2200" dirty="0"/>
          </a:p>
        </p:txBody>
      </p:sp>
      <p:sp>
        <p:nvSpPr>
          <p:cNvPr id="3" name="Text 1"/>
          <p:cNvSpPr/>
          <p:nvPr/>
        </p:nvSpPr>
        <p:spPr>
          <a:xfrm>
            <a:off x="320040" y="868680"/>
            <a:ext cx="8503920" cy="3931920"/>
          </a:xfrm>
          <a:prstGeom prst="rect">
            <a:avLst/>
          </a:prstGeom>
          <a:noFill/>
          <a:ln/>
        </p:spPr>
        <p:txBody>
          <a:bodyPr wrap="square" rtlCol="0" anchor="t"/>
          <a:lstStyle/>
          <a:p>
            <a:pPr marL="3429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To design and implement a real-time, explainable, and automated cloud security monitoring system that:</a:t>
            </a:r>
            <a:endParaRPr lang="en-US" sz="1400" dirty="0"/>
          </a:p>
          <a:p>
            <a:pPr lvl="1" marL="6858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detects anomalous AWS CloudTrail API activity using unsupervised machine learning (IsolationForest);</a:t>
            </a:r>
            <a:endParaRPr lang="en-US" sz="1400" dirty="0"/>
          </a:p>
          <a:p>
            <a:pPr lvl="1" marL="6858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explains each detection decision using SHAP (Explainable AI);</a:t>
            </a:r>
            <a:endParaRPr lang="en-US" sz="1400" dirty="0"/>
          </a:p>
          <a:p>
            <a:pPr lvl="1" marL="6858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classifies threats according to the MITRE ATT&amp;CK framework;</a:t>
            </a:r>
            <a:endParaRPr lang="en-US" sz="1400" dirty="0"/>
          </a:p>
          <a:p>
            <a:pPr lvl="1" marL="6858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automatically generates and validates least-privilege IAM remediation policies;</a:t>
            </a:r>
            <a:endParaRPr lang="en-US" sz="1400" dirty="0"/>
          </a:p>
          <a:p>
            <a:pPr lvl="1" marL="6858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operates within a serverless, event-driven AWS architecture (CloudTrail → EventBridge → Lambda → DynamoDB → Streamlit).</a:t>
            </a:r>
            <a:endParaRPr lang="en-US" sz="1400" dirty="0"/>
          </a:p>
        </p:txBody>
      </p:sp>
      <p:sp>
        <p:nvSpPr>
          <p:cNvPr id="4" name="Text 2"/>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5" name="Text 3"/>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4"/>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Abstract</a:t>
            </a:r>
            <a:endParaRPr lang="en-US" sz="2200" dirty="0"/>
          </a:p>
        </p:txBody>
      </p:sp>
      <p:sp>
        <p:nvSpPr>
          <p:cNvPr id="3" name="Text 1"/>
          <p:cNvSpPr/>
          <p:nvPr/>
        </p:nvSpPr>
        <p:spPr>
          <a:xfrm>
            <a:off x="320040" y="914400"/>
            <a:ext cx="8503920" cy="3291840"/>
          </a:xfrm>
          <a:prstGeom prst="rect">
            <a:avLst/>
          </a:prstGeom>
          <a:noFill/>
          <a:ln/>
        </p:spPr>
        <p:txBody>
          <a:bodyPr wrap="square" rtlCol="0" anchor="t"/>
          <a:lstStyle/>
          <a:p>
            <a:pPr indent="0" marL="0">
              <a:lnSpc>
                <a:spcPct val="115000"/>
              </a:lnSpc>
              <a:buNone/>
            </a:pPr>
            <a:r>
              <a:rPr lang="en-US" sz="1400" dirty="0">
                <a:solidFill>
                  <a:srgbClr val="111111"/>
                </a:solidFill>
                <a:latin typeface="Calibri" pitchFamily="34" charset="0"/>
                <a:ea typeface="Calibri" pitchFamily="34" charset="-122"/>
                <a:cs typeface="Calibri" pitchFamily="34" charset="-120"/>
              </a:rPr>
              <a:t>CloudGuard is a serverless AWS security platform that applies unsupervised machine learning and Explainable AI (XAI) to detect and respond to threats in AWS CloudTrail audit logs. An IsolationForest model, trained on 1,939,214 real CloudTrail API call records, assigns anomaly scores to every API event. Detected anomalies are explained using SHAP to identify which features drove the detection. A MITRE ATT&amp;CK-mapped rule engine classifies each anomaly into one of six threat categories. Category-specific least-privilege IAM Deny policies are automatically generated, validated by AWS IAM Access Analyzer, and placed in a human-in-the-loop approval queue before any enforcement. All stages are orchestrated by an AWS Lambda function triggered by Amazon EventBridge, with results persisted to DynamoDB and visualised through a six-page Streamlit dashboard including a Live Simulation sandbox.</a:t>
            </a:r>
            <a:endParaRPr lang="en-US" sz="1400" dirty="0"/>
          </a:p>
        </p:txBody>
      </p:sp>
      <p:sp>
        <p:nvSpPr>
          <p:cNvPr id="4" name="Text 2"/>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5" name="Text 3"/>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4"/>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Literature Review</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914400"/>
          <a:ext cx="8503920" cy="3474720"/>
        </p:xfrm>
        <a:graphic>
          <a:graphicData uri="http://schemas.openxmlformats.org/drawingml/2006/table">
            <a:tbl>
              <a:tblPr/>
              <a:tblGrid>
                <a:gridCol w="2286000"/>
                <a:gridCol w="1920240"/>
                <a:gridCol w="2194560"/>
                <a:gridCol w="2103120"/>
              </a:tblGrid>
              <a:tr h="5791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Paper</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Objective</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Methodology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Relevance to CloudGuard</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r>
              <a:tr h="57912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Liu, Ting, Zhou (2008) – Isolation Forest, ICDM</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Efficient anomaly detection via isolation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Random partition trees; path length as anomaly score</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Core anomaly-detection algorithm used by CloudGuard</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7912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Lundberg &amp; Lee (2017) – SHAP, NeurIPS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Unified feature-attribution framework</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Shapley-value based model explanation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Used for per-event XAI attribution (TreeExplainer)</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7912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Strom et al. (2018) – MITRE ATT&amp;CK, MITRE Tech. Report</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Structured adversary tactic/technique taxonomy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Knowledge base of real-world attack techniques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Used to map detected anomalies to threat categories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7912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Varma &amp; Ramya (2025) – XAI + LLM for CloudTrail anomalies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Detect &amp; explain anomalous CloudTrail activity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ML anomaly detection + LLM contextual explanation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Closest related pipeline; CloudGuard adds validated IAM remediation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7912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Arul Selvam &amp; Selvy (2025) – XAI for insider-threat detection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Improve transparency of cloud threat detection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SHAP, LIME, counterfactual reasoning</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Confirms SHAP-based attribution improves analyst trust</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4" name="Text 1"/>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5" name="Text 2"/>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3"/>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Research Gap</a:t>
            </a:r>
            <a:endParaRPr lang="en-US" sz="2200" dirty="0"/>
          </a:p>
        </p:txBody>
      </p:sp>
      <p:sp>
        <p:nvSpPr>
          <p:cNvPr id="3" name="Text 1"/>
          <p:cNvSpPr/>
          <p:nvPr/>
        </p:nvSpPr>
        <p:spPr>
          <a:xfrm>
            <a:off x="320040" y="868680"/>
            <a:ext cx="8503920" cy="3931920"/>
          </a:xfrm>
          <a:prstGeom prst="rect">
            <a:avLst/>
          </a:prstGeom>
          <a:noFill/>
          <a:ln/>
        </p:spPr>
        <p:txBody>
          <a:bodyPr wrap="square" rtlCol="0" anchor="t"/>
          <a:lstStyle/>
          <a:p>
            <a:pPr marL="3429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Existing cloud security tools rely on signature-based detection (ineffective against novel attacks) or supervised ML (requires labelled data rarely available in production).</a:t>
            </a:r>
            <a:endParaRPr lang="en-US" sz="1400" dirty="0"/>
          </a:p>
          <a:p>
            <a:pPr marL="3429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Few solutions combine, in a single pipeline: (1) unsupervised anomaly detection, (2) model-level explainability via SHAP, (3) MITRE ATT&amp;CK mapping, and (4) automated, validated, policy-based remediation.</a:t>
            </a:r>
            <a:endParaRPr lang="en-US" sz="1400" dirty="0"/>
          </a:p>
          <a:p>
            <a:pPr marL="3429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Related XAI-for-cloud work (e.g., Varma &amp; Ramya 2025) explains anomalies but does not generate or validate IAM remediation policies.</a:t>
            </a:r>
            <a:endParaRPr lang="en-US" sz="1400" dirty="0"/>
          </a:p>
          <a:p>
            <a:pPr marL="3429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CloudGuard addresses this gap by connecting detection → explanation → classification → least-privilege IAM policy generation → Access Analyzer validation → human-in-the-loop enforcement.</a:t>
            </a:r>
            <a:endParaRPr lang="en-US" sz="1400" dirty="0"/>
          </a:p>
        </p:txBody>
      </p:sp>
      <p:sp>
        <p:nvSpPr>
          <p:cNvPr id="4" name="Text 2"/>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5" name="Text 3"/>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4"/>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Objectives, SDGs and Outcomes</a:t>
            </a:r>
            <a:endParaRPr lang="en-US" sz="2200" dirty="0"/>
          </a:p>
        </p:txBody>
      </p:sp>
      <p:sp>
        <p:nvSpPr>
          <p:cNvPr id="3" name="Text 1"/>
          <p:cNvSpPr/>
          <p:nvPr/>
        </p:nvSpPr>
        <p:spPr>
          <a:xfrm>
            <a:off x="320040" y="868680"/>
            <a:ext cx="8503920" cy="2788920"/>
          </a:xfrm>
          <a:prstGeom prst="rect">
            <a:avLst/>
          </a:prstGeom>
          <a:noFill/>
          <a:ln/>
        </p:spPr>
        <p:txBody>
          <a:bodyPr wrap="square" rtlCol="0" anchor="t"/>
          <a:lstStyle/>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Implement real-time CloudTrail event ingestion and deterministic feature extraction.</a:t>
            </a:r>
            <a:endParaRPr lang="en-US" sz="1250" dirty="0"/>
          </a:p>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Train an IsolationForest anomaly-detection model on real CloudTrail data (1.93M events).</a:t>
            </a:r>
            <a:endParaRPr lang="en-US" sz="1250" dirty="0"/>
          </a:p>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Apply SHAP TreeExplainer for per-feature attribution on every detected anomaly.</a:t>
            </a:r>
            <a:endParaRPr lang="en-US" sz="1250" dirty="0"/>
          </a:p>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Map SHAP evidence to 6 MITRE ATT&amp;CK-aligned threat categories.</a:t>
            </a:r>
            <a:endParaRPr lang="en-US" sz="1250" dirty="0"/>
          </a:p>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Automatically generate category-specific least-privilege IAM Deny policies.</a:t>
            </a:r>
            <a:endParaRPr lang="en-US" sz="1250" dirty="0"/>
          </a:p>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Validate generated policies using AWS IAM Access Analyzer before enforcement.</a:t>
            </a:r>
            <a:endParaRPr lang="en-US" sz="1250" dirty="0"/>
          </a:p>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Implement a human-in-the-loop remediation queue with a SIMULATION_MODE safety gate.</a:t>
            </a:r>
            <a:endParaRPr lang="en-US" sz="1250" dirty="0"/>
          </a:p>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Build a 6-page Streamlit dashboard including a Live Simulation sandbox.</a:t>
            </a:r>
            <a:endParaRPr lang="en-US" sz="1250" dirty="0"/>
          </a:p>
        </p:txBody>
      </p:sp>
      <p:sp>
        <p:nvSpPr>
          <p:cNvPr id="4" name="Text 2"/>
          <p:cNvSpPr/>
          <p:nvPr/>
        </p:nvSpPr>
        <p:spPr>
          <a:xfrm>
            <a:off x="320040" y="3794760"/>
            <a:ext cx="4206240" cy="274320"/>
          </a:xfrm>
          <a:prstGeom prst="rect">
            <a:avLst/>
          </a:prstGeom>
          <a:noFill/>
          <a:ln/>
        </p:spPr>
        <p:txBody>
          <a:bodyPr wrap="square" rtlCol="0" anchor="ctr"/>
          <a:lstStyle/>
          <a:p>
            <a:pPr indent="0" marL="0">
              <a:buNone/>
            </a:pPr>
            <a:r>
              <a:rPr lang="en-US" sz="1200" b="1" dirty="0">
                <a:solidFill>
                  <a:srgbClr val="1F2A44"/>
                </a:solidFill>
              </a:rPr>
              <a:t>SDG Mapping</a:t>
            </a:r>
            <a:endParaRPr lang="en-US" sz="1200" dirty="0"/>
          </a:p>
        </p:txBody>
      </p:sp>
      <p:sp>
        <p:nvSpPr>
          <p:cNvPr id="5" name="Text 3"/>
          <p:cNvSpPr/>
          <p:nvPr/>
        </p:nvSpPr>
        <p:spPr>
          <a:xfrm>
            <a:off x="320040" y="4069080"/>
            <a:ext cx="4206240" cy="822960"/>
          </a:xfrm>
          <a:prstGeom prst="rect">
            <a:avLst/>
          </a:prstGeom>
          <a:noFill/>
          <a:ln/>
        </p:spPr>
        <p:txBody>
          <a:bodyPr wrap="square" rtlCol="0" anchor="t"/>
          <a:lstStyle/>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SDG 9 — Industry, Innovation &amp; Infrastructure</a:t>
            </a:r>
            <a:endParaRPr lang="en-US" sz="1050" dirty="0"/>
          </a:p>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SDG 16 — Peace, Justice &amp; Strong Institutions</a:t>
            </a:r>
            <a:endParaRPr lang="en-US" sz="1050" dirty="0"/>
          </a:p>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SDG 17 — Partnerships for the Goals</a:t>
            </a:r>
            <a:endParaRPr lang="en-US" sz="1050" dirty="0"/>
          </a:p>
        </p:txBody>
      </p:sp>
      <p:sp>
        <p:nvSpPr>
          <p:cNvPr id="6" name="Text 4"/>
          <p:cNvSpPr/>
          <p:nvPr/>
        </p:nvSpPr>
        <p:spPr>
          <a:xfrm>
            <a:off x="4709160" y="3794760"/>
            <a:ext cx="4114800" cy="274320"/>
          </a:xfrm>
          <a:prstGeom prst="rect">
            <a:avLst/>
          </a:prstGeom>
          <a:noFill/>
          <a:ln/>
        </p:spPr>
        <p:txBody>
          <a:bodyPr wrap="square" rtlCol="0" anchor="ctr"/>
          <a:lstStyle/>
          <a:p>
            <a:pPr indent="0" marL="0">
              <a:buNone/>
            </a:pPr>
            <a:r>
              <a:rPr lang="en-US" sz="1200" b="1" dirty="0">
                <a:solidFill>
                  <a:srgbClr val="1F2A44"/>
                </a:solidFill>
              </a:rPr>
              <a:t>Outcomes</a:t>
            </a:r>
            <a:endParaRPr lang="en-US" sz="1200" dirty="0"/>
          </a:p>
        </p:txBody>
      </p:sp>
      <p:sp>
        <p:nvSpPr>
          <p:cNvPr id="7" name="Text 5"/>
          <p:cNvSpPr/>
          <p:nvPr/>
        </p:nvSpPr>
        <p:spPr>
          <a:xfrm>
            <a:off x="4709160" y="4069080"/>
            <a:ext cx="4114800" cy="822960"/>
          </a:xfrm>
          <a:prstGeom prst="rect">
            <a:avLst/>
          </a:prstGeom>
          <a:noFill/>
          <a:ln/>
        </p:spPr>
        <p:txBody>
          <a:bodyPr wrap="square" rtlCol="0" anchor="t"/>
          <a:lstStyle/>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Functional prototype (working end-to-end pipeline, 82/82 tests passing)</a:t>
            </a:r>
            <a:endParaRPr lang="en-US" sz="1050" dirty="0"/>
          </a:p>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Conference/Journal paper (Scopus) — targeted</a:t>
            </a:r>
            <a:endParaRPr lang="en-US" sz="1050" dirty="0"/>
          </a:p>
        </p:txBody>
      </p:sp>
      <p:sp>
        <p:nvSpPr>
          <p:cNvPr id="8" name="Text 6"/>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9" name="Text 7"/>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10" name="Text 8"/>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Framework / Architecture</a:t>
            </a:r>
            <a:endParaRPr lang="en-US" sz="2200" dirty="0"/>
          </a:p>
        </p:txBody>
      </p:sp>
      <p:sp>
        <p:nvSpPr>
          <p:cNvPr id="3" name="Shape 1"/>
          <p:cNvSpPr/>
          <p:nvPr/>
        </p:nvSpPr>
        <p:spPr>
          <a:xfrm>
            <a:off x="320040" y="1143000"/>
            <a:ext cx="1572768" cy="777240"/>
          </a:xfrm>
          <a:prstGeom prst="roundRect">
            <a:avLst>
              <a:gd name="adj" fmla="val 7059"/>
            </a:avLst>
          </a:prstGeom>
          <a:solidFill>
            <a:srgbClr val="EAF1FB"/>
          </a:solidFill>
          <a:ln w="12700">
            <a:solidFill>
              <a:srgbClr val="2E5A8C"/>
            </a:solidFill>
            <a:prstDash val="solid"/>
          </a:ln>
        </p:spPr>
      </p:sp>
      <p:sp>
        <p:nvSpPr>
          <p:cNvPr id="4" name="Text 2"/>
          <p:cNvSpPr/>
          <p:nvPr/>
        </p:nvSpPr>
        <p:spPr>
          <a:xfrm>
            <a:off x="320040" y="1143000"/>
            <a:ext cx="1572768" cy="777240"/>
          </a:xfrm>
          <a:prstGeom prst="rect">
            <a:avLst/>
          </a:prstGeom>
          <a:noFill/>
          <a:ln/>
        </p:spPr>
        <p:txBody>
          <a:bodyPr wrap="square" rtlCol="0" anchor="ctr"/>
          <a:lstStyle/>
          <a:p>
            <a:pPr algn="ctr" indent="0" marL="0">
              <a:buNone/>
            </a:pPr>
            <a:r>
              <a:rPr lang="en-US" sz="950" b="1" dirty="0">
                <a:solidFill>
                  <a:srgbClr val="1F2A44"/>
                </a:solidFill>
                <a:latin typeface="Calibri" pitchFamily="34" charset="0"/>
                <a:ea typeface="Calibri" pitchFamily="34" charset="-122"/>
                <a:cs typeface="Calibri" pitchFamily="34" charset="-120"/>
              </a:rPr>
              <a:t>CloudTrail</a:t>
            </a:r>
            <a:endParaRPr lang="en-US" sz="950" dirty="0"/>
          </a:p>
          <a:p>
            <a:pPr algn="ctr" indent="0" marL="0">
              <a:buNone/>
            </a:pPr>
            <a:r>
              <a:rPr lang="en-US" sz="950" b="1" dirty="0">
                <a:solidFill>
                  <a:srgbClr val="1F2A44"/>
                </a:solidFill>
                <a:latin typeface="Calibri" pitchFamily="34" charset="0"/>
                <a:ea typeface="Calibri" pitchFamily="34" charset="-122"/>
                <a:cs typeface="Calibri" pitchFamily="34" charset="-120"/>
              </a:rPr>
              <a:t>(API audit log)</a:t>
            </a:r>
            <a:endParaRPr lang="en-US" sz="950" dirty="0"/>
          </a:p>
        </p:txBody>
      </p:sp>
      <p:sp>
        <p:nvSpPr>
          <p:cNvPr id="5" name="Text 3"/>
          <p:cNvSpPr/>
          <p:nvPr/>
        </p:nvSpPr>
        <p:spPr>
          <a:xfrm>
            <a:off x="1892808" y="1143000"/>
            <a:ext cx="137160" cy="777240"/>
          </a:xfrm>
          <a:prstGeom prst="rect">
            <a:avLst/>
          </a:prstGeom>
          <a:noFill/>
          <a:ln/>
        </p:spPr>
        <p:txBody>
          <a:bodyPr wrap="square" rtlCol="0" anchor="ctr"/>
          <a:lstStyle/>
          <a:p>
            <a:pPr algn="ctr" indent="0" marL="0">
              <a:buNone/>
            </a:pPr>
            <a:r>
              <a:rPr lang="en-US" sz="1400" b="1" dirty="0">
                <a:solidFill>
                  <a:srgbClr val="555555"/>
                </a:solidFill>
              </a:rPr>
              <a:t>→</a:t>
            </a:r>
            <a:endParaRPr lang="en-US" sz="1400" dirty="0"/>
          </a:p>
        </p:txBody>
      </p:sp>
      <p:sp>
        <p:nvSpPr>
          <p:cNvPr id="6" name="Shape 4"/>
          <p:cNvSpPr/>
          <p:nvPr/>
        </p:nvSpPr>
        <p:spPr>
          <a:xfrm>
            <a:off x="2029968" y="1143000"/>
            <a:ext cx="1572768" cy="777240"/>
          </a:xfrm>
          <a:prstGeom prst="roundRect">
            <a:avLst>
              <a:gd name="adj" fmla="val 7059"/>
            </a:avLst>
          </a:prstGeom>
          <a:solidFill>
            <a:srgbClr val="EAF1FB"/>
          </a:solidFill>
          <a:ln w="12700">
            <a:solidFill>
              <a:srgbClr val="2E5A8C"/>
            </a:solidFill>
            <a:prstDash val="solid"/>
          </a:ln>
        </p:spPr>
      </p:sp>
      <p:sp>
        <p:nvSpPr>
          <p:cNvPr id="7" name="Text 5"/>
          <p:cNvSpPr/>
          <p:nvPr/>
        </p:nvSpPr>
        <p:spPr>
          <a:xfrm>
            <a:off x="2029968" y="1143000"/>
            <a:ext cx="1572768" cy="777240"/>
          </a:xfrm>
          <a:prstGeom prst="rect">
            <a:avLst/>
          </a:prstGeom>
          <a:noFill/>
          <a:ln/>
        </p:spPr>
        <p:txBody>
          <a:bodyPr wrap="square" rtlCol="0" anchor="ctr"/>
          <a:lstStyle/>
          <a:p>
            <a:pPr algn="ctr" indent="0" marL="0">
              <a:buNone/>
            </a:pPr>
            <a:r>
              <a:rPr lang="en-US" sz="950" b="1" dirty="0">
                <a:solidFill>
                  <a:srgbClr val="1F2A44"/>
                </a:solidFill>
                <a:latin typeface="Calibri" pitchFamily="34" charset="0"/>
                <a:ea typeface="Calibri" pitchFamily="34" charset="-122"/>
                <a:cs typeface="Calibri" pitchFamily="34" charset="-120"/>
              </a:rPr>
              <a:t>EventBridge</a:t>
            </a:r>
            <a:endParaRPr lang="en-US" sz="950" dirty="0"/>
          </a:p>
          <a:p>
            <a:pPr algn="ctr" indent="0" marL="0">
              <a:buNone/>
            </a:pPr>
            <a:r>
              <a:rPr lang="en-US" sz="950" b="1" dirty="0">
                <a:solidFill>
                  <a:srgbClr val="1F2A44"/>
                </a:solidFill>
                <a:latin typeface="Calibri" pitchFamily="34" charset="0"/>
                <a:ea typeface="Calibri" pitchFamily="34" charset="-122"/>
                <a:cs typeface="Calibri" pitchFamily="34" charset="-120"/>
              </a:rPr>
              <a:t>(event filter/route)</a:t>
            </a:r>
            <a:endParaRPr lang="en-US" sz="950" dirty="0"/>
          </a:p>
        </p:txBody>
      </p:sp>
      <p:sp>
        <p:nvSpPr>
          <p:cNvPr id="8" name="Text 6"/>
          <p:cNvSpPr/>
          <p:nvPr/>
        </p:nvSpPr>
        <p:spPr>
          <a:xfrm>
            <a:off x="3602736" y="1143000"/>
            <a:ext cx="137160" cy="777240"/>
          </a:xfrm>
          <a:prstGeom prst="rect">
            <a:avLst/>
          </a:prstGeom>
          <a:noFill/>
          <a:ln/>
        </p:spPr>
        <p:txBody>
          <a:bodyPr wrap="square" rtlCol="0" anchor="ctr"/>
          <a:lstStyle/>
          <a:p>
            <a:pPr algn="ctr" indent="0" marL="0">
              <a:buNone/>
            </a:pPr>
            <a:r>
              <a:rPr lang="en-US" sz="1400" b="1" dirty="0">
                <a:solidFill>
                  <a:srgbClr val="555555"/>
                </a:solidFill>
              </a:rPr>
              <a:t>→</a:t>
            </a:r>
            <a:endParaRPr lang="en-US" sz="1400" dirty="0"/>
          </a:p>
        </p:txBody>
      </p:sp>
      <p:sp>
        <p:nvSpPr>
          <p:cNvPr id="9" name="Shape 7"/>
          <p:cNvSpPr/>
          <p:nvPr/>
        </p:nvSpPr>
        <p:spPr>
          <a:xfrm>
            <a:off x="3739896" y="1143000"/>
            <a:ext cx="1572768" cy="777240"/>
          </a:xfrm>
          <a:prstGeom prst="roundRect">
            <a:avLst>
              <a:gd name="adj" fmla="val 7059"/>
            </a:avLst>
          </a:prstGeom>
          <a:solidFill>
            <a:srgbClr val="EAF1FB"/>
          </a:solidFill>
          <a:ln w="12700">
            <a:solidFill>
              <a:srgbClr val="2E5A8C"/>
            </a:solidFill>
            <a:prstDash val="solid"/>
          </a:ln>
        </p:spPr>
      </p:sp>
      <p:sp>
        <p:nvSpPr>
          <p:cNvPr id="10" name="Text 8"/>
          <p:cNvSpPr/>
          <p:nvPr/>
        </p:nvSpPr>
        <p:spPr>
          <a:xfrm>
            <a:off x="3739896" y="1143000"/>
            <a:ext cx="1572768" cy="777240"/>
          </a:xfrm>
          <a:prstGeom prst="rect">
            <a:avLst/>
          </a:prstGeom>
          <a:noFill/>
          <a:ln/>
        </p:spPr>
        <p:txBody>
          <a:bodyPr wrap="square" rtlCol="0" anchor="ctr"/>
          <a:lstStyle/>
          <a:p>
            <a:pPr algn="ctr" indent="0" marL="0">
              <a:buNone/>
            </a:pPr>
            <a:r>
              <a:rPr lang="en-US" sz="950" b="1" dirty="0">
                <a:solidFill>
                  <a:srgbClr val="1F2A44"/>
                </a:solidFill>
                <a:latin typeface="Calibri" pitchFamily="34" charset="0"/>
                <a:ea typeface="Calibri" pitchFamily="34" charset="-122"/>
                <a:cs typeface="Calibri" pitchFamily="34" charset="-120"/>
              </a:rPr>
              <a:t>Lambda</a:t>
            </a:r>
            <a:endParaRPr lang="en-US" sz="950" dirty="0"/>
          </a:p>
          <a:p>
            <a:pPr algn="ctr" indent="0" marL="0">
              <a:buNone/>
            </a:pPr>
            <a:r>
              <a:rPr lang="en-US" sz="950" b="1" dirty="0">
                <a:solidFill>
                  <a:srgbClr val="1F2A44"/>
                </a:solidFill>
                <a:latin typeface="Calibri" pitchFamily="34" charset="0"/>
                <a:ea typeface="Calibri" pitchFamily="34" charset="-122"/>
                <a:cs typeface="Calibri" pitchFamily="34" charset="-120"/>
              </a:rPr>
              <a:t>(8-stage pipeline)</a:t>
            </a:r>
            <a:endParaRPr lang="en-US" sz="950" dirty="0"/>
          </a:p>
        </p:txBody>
      </p:sp>
      <p:sp>
        <p:nvSpPr>
          <p:cNvPr id="11" name="Text 9"/>
          <p:cNvSpPr/>
          <p:nvPr/>
        </p:nvSpPr>
        <p:spPr>
          <a:xfrm>
            <a:off x="5312664" y="1143000"/>
            <a:ext cx="137160" cy="777240"/>
          </a:xfrm>
          <a:prstGeom prst="rect">
            <a:avLst/>
          </a:prstGeom>
          <a:noFill/>
          <a:ln/>
        </p:spPr>
        <p:txBody>
          <a:bodyPr wrap="square" rtlCol="0" anchor="ctr"/>
          <a:lstStyle/>
          <a:p>
            <a:pPr algn="ctr" indent="0" marL="0">
              <a:buNone/>
            </a:pPr>
            <a:r>
              <a:rPr lang="en-US" sz="1400" b="1" dirty="0">
                <a:solidFill>
                  <a:srgbClr val="555555"/>
                </a:solidFill>
              </a:rPr>
              <a:t>→</a:t>
            </a:r>
            <a:endParaRPr lang="en-US" sz="1400" dirty="0"/>
          </a:p>
        </p:txBody>
      </p:sp>
      <p:sp>
        <p:nvSpPr>
          <p:cNvPr id="12" name="Shape 10"/>
          <p:cNvSpPr/>
          <p:nvPr/>
        </p:nvSpPr>
        <p:spPr>
          <a:xfrm>
            <a:off x="5449824" y="1143000"/>
            <a:ext cx="1572768" cy="777240"/>
          </a:xfrm>
          <a:prstGeom prst="roundRect">
            <a:avLst>
              <a:gd name="adj" fmla="val 7059"/>
            </a:avLst>
          </a:prstGeom>
          <a:solidFill>
            <a:srgbClr val="EAF1FB"/>
          </a:solidFill>
          <a:ln w="12700">
            <a:solidFill>
              <a:srgbClr val="2E5A8C"/>
            </a:solidFill>
            <a:prstDash val="solid"/>
          </a:ln>
        </p:spPr>
      </p:sp>
      <p:sp>
        <p:nvSpPr>
          <p:cNvPr id="13" name="Text 11"/>
          <p:cNvSpPr/>
          <p:nvPr/>
        </p:nvSpPr>
        <p:spPr>
          <a:xfrm>
            <a:off x="5449824" y="1143000"/>
            <a:ext cx="1572768" cy="777240"/>
          </a:xfrm>
          <a:prstGeom prst="rect">
            <a:avLst/>
          </a:prstGeom>
          <a:noFill/>
          <a:ln/>
        </p:spPr>
        <p:txBody>
          <a:bodyPr wrap="square" rtlCol="0" anchor="ctr"/>
          <a:lstStyle/>
          <a:p>
            <a:pPr algn="ctr" indent="0" marL="0">
              <a:buNone/>
            </a:pPr>
            <a:r>
              <a:rPr lang="en-US" sz="950" b="1" dirty="0">
                <a:solidFill>
                  <a:srgbClr val="1F2A44"/>
                </a:solidFill>
                <a:latin typeface="Calibri" pitchFamily="34" charset="0"/>
                <a:ea typeface="Calibri" pitchFamily="34" charset="-122"/>
                <a:cs typeface="Calibri" pitchFamily="34" charset="-120"/>
              </a:rPr>
              <a:t>DynamoDB</a:t>
            </a:r>
            <a:endParaRPr lang="en-US" sz="950" dirty="0"/>
          </a:p>
          <a:p>
            <a:pPr algn="ctr" indent="0" marL="0">
              <a:buNone/>
            </a:pPr>
            <a:r>
              <a:rPr lang="en-US" sz="950" b="1" dirty="0">
                <a:solidFill>
                  <a:srgbClr val="1F2A44"/>
                </a:solidFill>
                <a:latin typeface="Calibri" pitchFamily="34" charset="0"/>
                <a:ea typeface="Calibri" pitchFamily="34" charset="-122"/>
                <a:cs typeface="Calibri" pitchFamily="34" charset="-120"/>
              </a:rPr>
              <a:t>(ThreatEvents)</a:t>
            </a:r>
            <a:endParaRPr lang="en-US" sz="950" dirty="0"/>
          </a:p>
        </p:txBody>
      </p:sp>
      <p:sp>
        <p:nvSpPr>
          <p:cNvPr id="14" name="Text 12"/>
          <p:cNvSpPr/>
          <p:nvPr/>
        </p:nvSpPr>
        <p:spPr>
          <a:xfrm>
            <a:off x="7022592" y="1143000"/>
            <a:ext cx="137160" cy="777240"/>
          </a:xfrm>
          <a:prstGeom prst="rect">
            <a:avLst/>
          </a:prstGeom>
          <a:noFill/>
          <a:ln/>
        </p:spPr>
        <p:txBody>
          <a:bodyPr wrap="square" rtlCol="0" anchor="ctr"/>
          <a:lstStyle/>
          <a:p>
            <a:pPr algn="ctr" indent="0" marL="0">
              <a:buNone/>
            </a:pPr>
            <a:r>
              <a:rPr lang="en-US" sz="1400" b="1" dirty="0">
                <a:solidFill>
                  <a:srgbClr val="555555"/>
                </a:solidFill>
              </a:rPr>
              <a:t>→</a:t>
            </a:r>
            <a:endParaRPr lang="en-US" sz="1400" dirty="0"/>
          </a:p>
        </p:txBody>
      </p:sp>
      <p:sp>
        <p:nvSpPr>
          <p:cNvPr id="15" name="Shape 13"/>
          <p:cNvSpPr/>
          <p:nvPr/>
        </p:nvSpPr>
        <p:spPr>
          <a:xfrm>
            <a:off x="7159752" y="1143000"/>
            <a:ext cx="1572768" cy="777240"/>
          </a:xfrm>
          <a:prstGeom prst="roundRect">
            <a:avLst>
              <a:gd name="adj" fmla="val 7059"/>
            </a:avLst>
          </a:prstGeom>
          <a:solidFill>
            <a:srgbClr val="EAF1FB"/>
          </a:solidFill>
          <a:ln w="12700">
            <a:solidFill>
              <a:srgbClr val="2E5A8C"/>
            </a:solidFill>
            <a:prstDash val="solid"/>
          </a:ln>
        </p:spPr>
      </p:sp>
      <p:sp>
        <p:nvSpPr>
          <p:cNvPr id="16" name="Text 14"/>
          <p:cNvSpPr/>
          <p:nvPr/>
        </p:nvSpPr>
        <p:spPr>
          <a:xfrm>
            <a:off x="7159752" y="1143000"/>
            <a:ext cx="1572768" cy="777240"/>
          </a:xfrm>
          <a:prstGeom prst="rect">
            <a:avLst/>
          </a:prstGeom>
          <a:noFill/>
          <a:ln/>
        </p:spPr>
        <p:txBody>
          <a:bodyPr wrap="square" rtlCol="0" anchor="ctr"/>
          <a:lstStyle/>
          <a:p>
            <a:pPr algn="ctr" indent="0" marL="0">
              <a:buNone/>
            </a:pPr>
            <a:r>
              <a:rPr lang="en-US" sz="950" b="1" dirty="0">
                <a:solidFill>
                  <a:srgbClr val="1F2A44"/>
                </a:solidFill>
                <a:latin typeface="Calibri" pitchFamily="34" charset="0"/>
                <a:ea typeface="Calibri" pitchFamily="34" charset="-122"/>
                <a:cs typeface="Calibri" pitchFamily="34" charset="-120"/>
              </a:rPr>
              <a:t>Streamlit</a:t>
            </a:r>
            <a:endParaRPr lang="en-US" sz="950" dirty="0"/>
          </a:p>
          <a:p>
            <a:pPr algn="ctr" indent="0" marL="0">
              <a:buNone/>
            </a:pPr>
            <a:r>
              <a:rPr lang="en-US" sz="950" b="1" dirty="0">
                <a:solidFill>
                  <a:srgbClr val="1F2A44"/>
                </a:solidFill>
                <a:latin typeface="Calibri" pitchFamily="34" charset="0"/>
                <a:ea typeface="Calibri" pitchFamily="34" charset="-122"/>
                <a:cs typeface="Calibri" pitchFamily="34" charset="-120"/>
              </a:rPr>
              <a:t>Dashboard (6 pages)</a:t>
            </a:r>
            <a:endParaRPr lang="en-US" sz="950" dirty="0"/>
          </a:p>
        </p:txBody>
      </p:sp>
      <p:sp>
        <p:nvSpPr>
          <p:cNvPr id="17" name="Text 15"/>
          <p:cNvSpPr/>
          <p:nvPr/>
        </p:nvSpPr>
        <p:spPr>
          <a:xfrm>
            <a:off x="320040" y="2148840"/>
            <a:ext cx="8503920" cy="274320"/>
          </a:xfrm>
          <a:prstGeom prst="rect">
            <a:avLst/>
          </a:prstGeom>
          <a:noFill/>
          <a:ln/>
        </p:spPr>
        <p:txBody>
          <a:bodyPr wrap="square" rtlCol="0" anchor="ctr"/>
          <a:lstStyle/>
          <a:p>
            <a:pPr indent="0" marL="0">
              <a:buNone/>
            </a:pPr>
            <a:r>
              <a:rPr lang="en-US" sz="1200" b="1" dirty="0">
                <a:solidFill>
                  <a:srgbClr val="1F2A44"/>
                </a:solidFill>
              </a:rPr>
              <a:t>Lambda pipeline (8 stages, orchestrated per CloudTrail event):</a:t>
            </a:r>
            <a:endParaRPr lang="en-US" sz="1200" dirty="0"/>
          </a:p>
        </p:txBody>
      </p:sp>
      <p:sp>
        <p:nvSpPr>
          <p:cNvPr id="18" name="Text 16"/>
          <p:cNvSpPr/>
          <p:nvPr/>
        </p:nvSpPr>
        <p:spPr>
          <a:xfrm>
            <a:off x="320040" y="2450592"/>
            <a:ext cx="8503920" cy="1463040"/>
          </a:xfrm>
          <a:prstGeom prst="rect">
            <a:avLst/>
          </a:prstGeom>
          <a:noFill/>
          <a:ln/>
        </p:spPr>
        <p:txBody>
          <a:bodyPr wrap="square" rtlCol="0" anchor="t"/>
          <a:lstStyle/>
          <a:p>
            <a:pPr marL="342900" indent="-342900">
              <a:lnSpc>
                <a:spcPct val="108000"/>
              </a:lnSpc>
              <a:spcAft>
                <a:spcPts val="600"/>
              </a:spcAft>
              <a:buSzPct val="100000"/>
              <a:buChar char="•"/>
            </a:pPr>
            <a:r>
              <a:rPr lang="en-US" sz="1150" dirty="0">
                <a:solidFill>
                  <a:srgbClr val="111111"/>
                </a:solidFill>
                <a:latin typeface="Calibri" pitchFamily="34" charset="0"/>
                <a:ea typeface="Calibri" pitchFamily="34" charset="-122"/>
                <a:cs typeface="Calibri" pitchFamily="34" charset="-120"/>
              </a:rPr>
              <a:t>1. Feature extraction  →  2. ML anomaly scoring (IsolationForest, threshold −0.02)</a:t>
            </a:r>
            <a:endParaRPr lang="en-US" sz="1150" dirty="0"/>
          </a:p>
          <a:p>
            <a:pPr marL="342900" indent="-342900">
              <a:lnSpc>
                <a:spcPct val="108000"/>
              </a:lnSpc>
              <a:spcAft>
                <a:spcPts val="600"/>
              </a:spcAft>
              <a:buSzPct val="100000"/>
              <a:buChar char="•"/>
            </a:pPr>
            <a:r>
              <a:rPr lang="en-US" sz="1150" dirty="0">
                <a:solidFill>
                  <a:srgbClr val="111111"/>
                </a:solidFill>
                <a:latin typeface="Calibri" pitchFamily="34" charset="0"/>
                <a:ea typeface="Calibri" pitchFamily="34" charset="-122"/>
                <a:cs typeface="Calibri" pitchFamily="34" charset="-120"/>
              </a:rPr>
              <a:t>3. SHAP XAI attribution (if anomaly)  →  4. Threat classification (6 MITRE categories)</a:t>
            </a:r>
            <a:endParaRPr lang="en-US" sz="1150" dirty="0"/>
          </a:p>
          <a:p>
            <a:pPr marL="342900" indent="-342900">
              <a:lnSpc>
                <a:spcPct val="108000"/>
              </a:lnSpc>
              <a:spcAft>
                <a:spcPts val="600"/>
              </a:spcAft>
              <a:buSzPct val="100000"/>
              <a:buChar char="•"/>
            </a:pPr>
            <a:r>
              <a:rPr lang="en-US" sz="1150" dirty="0">
                <a:solidFill>
                  <a:srgbClr val="111111"/>
                </a:solidFill>
                <a:latin typeface="Calibri" pitchFamily="34" charset="0"/>
                <a:ea typeface="Calibri" pitchFamily="34" charset="-122"/>
                <a:cs typeface="Calibri" pitchFamily="34" charset="-120"/>
              </a:rPr>
              <a:t>5. IAM Deny policy generation  →  6. Access Analyzer validation</a:t>
            </a:r>
            <a:endParaRPr lang="en-US" sz="1150" dirty="0"/>
          </a:p>
          <a:p>
            <a:pPr marL="342900" indent="-342900">
              <a:lnSpc>
                <a:spcPct val="108000"/>
              </a:lnSpc>
              <a:spcAft>
                <a:spcPts val="600"/>
              </a:spcAft>
              <a:buSzPct val="100000"/>
              <a:buChar char="•"/>
            </a:pPr>
            <a:r>
              <a:rPr lang="en-US" sz="1150" dirty="0">
                <a:solidFill>
                  <a:srgbClr val="111111"/>
                </a:solidFill>
                <a:latin typeface="Calibri" pitchFamily="34" charset="0"/>
                <a:ea typeface="Calibri" pitchFamily="34" charset="-122"/>
                <a:cs typeface="Calibri" pitchFamily="34" charset="-120"/>
              </a:rPr>
              <a:t>7. Controlled remediation (state machine: SIMULATED / BLOCKED / PENDING_APPROVAL / ENFORCED)</a:t>
            </a:r>
            <a:endParaRPr lang="en-US" sz="1150" dirty="0"/>
          </a:p>
          <a:p>
            <a:pPr marL="342900" indent="-342900">
              <a:lnSpc>
                <a:spcPct val="108000"/>
              </a:lnSpc>
              <a:spcAft>
                <a:spcPts val="600"/>
              </a:spcAft>
              <a:buSzPct val="100000"/>
              <a:buChar char="•"/>
            </a:pPr>
            <a:r>
              <a:rPr lang="en-US" sz="1150" dirty="0">
                <a:solidFill>
                  <a:srgbClr val="111111"/>
                </a:solidFill>
                <a:latin typeface="Calibri" pitchFamily="34" charset="0"/>
                <a:ea typeface="Calibri" pitchFamily="34" charset="-122"/>
                <a:cs typeface="Calibri" pitchFamily="34" charset="-120"/>
              </a:rPr>
              <a:t>8. Persistence to DynamoDB + SNS alerting (Critical/High severity)</a:t>
            </a:r>
            <a:endParaRPr lang="en-US" sz="1150" dirty="0"/>
          </a:p>
        </p:txBody>
      </p:sp>
      <p:sp>
        <p:nvSpPr>
          <p:cNvPr id="19" name="Text 17"/>
          <p:cNvSpPr/>
          <p:nvPr/>
        </p:nvSpPr>
        <p:spPr>
          <a:xfrm>
            <a:off x="320040" y="3977640"/>
            <a:ext cx="8503920" cy="548640"/>
          </a:xfrm>
          <a:prstGeom prst="rect">
            <a:avLst/>
          </a:prstGeom>
          <a:noFill/>
          <a:ln/>
        </p:spPr>
        <p:txBody>
          <a:bodyPr wrap="square" rtlCol="0" anchor="ctr"/>
          <a:lstStyle/>
          <a:p>
            <a:pPr indent="0" marL="0">
              <a:buNone/>
            </a:pPr>
            <a:r>
              <a:rPr lang="en-US" sz="1100" i="1" dirty="0">
                <a:solidFill>
                  <a:srgbClr val="555555"/>
                </a:solidFill>
              </a:rPr>
              <a:t>Results are visualised on a 6-page Streamlit dashboard (Dashboard, Threat History, Analytics, ML Insights, Threat Details, Remediation Queue) plus a Live Simulation sandbox.</a:t>
            </a:r>
            <a:endParaRPr lang="en-US" sz="1100" dirty="0"/>
          </a:p>
        </p:txBody>
      </p:sp>
      <p:sp>
        <p:nvSpPr>
          <p:cNvPr id="20" name="Text 18"/>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21" name="Text 19"/>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22" name="Text 20"/>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Functional Requirements</a:t>
            </a:r>
            <a:endParaRPr lang="en-US" sz="2200" dirty="0"/>
          </a:p>
        </p:txBody>
      </p:sp>
      <p:sp>
        <p:nvSpPr>
          <p:cNvPr id="3" name="Text 1"/>
          <p:cNvSpPr/>
          <p:nvPr/>
        </p:nvSpPr>
        <p:spPr>
          <a:xfrm>
            <a:off x="320040" y="868680"/>
            <a:ext cx="8503920" cy="3931920"/>
          </a:xfrm>
          <a:prstGeom prst="rect">
            <a:avLst/>
          </a:prstGeom>
          <a:noFill/>
          <a:ln/>
        </p:spPr>
        <p:txBody>
          <a:bodyPr wrap="square" rtlCol="0" anchor="t"/>
          <a:lstStyle/>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Ingest raw CloudTrail events (EventBridge envelope and flat-dict formats).</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Extract 5 canonical features: eventName, hour (UTC), userIdentitytype, awsRegion, isRoot.</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Score every event with IsolationForest.decision_function (threshold = −0.02).</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Run SHAP TreeExplainer on anomalous events to identify the top anomalous feature.</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Classify each anomaly into one of 6 MITRE-mapped threat categories.</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Generate a category-specific least-privilege IAM Deny policy per anomaly.</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Validate each generated policy using AWS IAM Access Analyzer.</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Persist pipeline results to DynamoDB (ThreatEvents table) and alert via SNS.</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Display results on a 6-page dashboard; allow analyst approve/reject of remediation.</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Enforce SIMULATION_MODE = true by default (no IAM changes without explicit enabling).</a:t>
            </a:r>
            <a:endParaRPr lang="en-US" sz="1170" dirty="0"/>
          </a:p>
        </p:txBody>
      </p:sp>
      <p:sp>
        <p:nvSpPr>
          <p:cNvPr id="4" name="Text 2"/>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5" name="Text 3"/>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4"/>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Modules</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868680"/>
          <a:ext cx="8503920" cy="3977640"/>
        </p:xfrm>
        <a:graphic>
          <a:graphicData uri="http://schemas.openxmlformats.org/drawingml/2006/table">
            <a:tbl>
              <a:tblPr/>
              <a:tblGrid>
                <a:gridCol w="1645920"/>
                <a:gridCol w="2377440"/>
                <a:gridCol w="4480560"/>
              </a:tblGrid>
              <a:tr h="39776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Module</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File</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Responsibility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Feature Contract</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ml/feature_contract.py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Deterministic feature extraction &amp; vocabulary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ML Inference</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backend/ml_inference.py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score_event() — encode + IsolationForest predict</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SHAP XAI</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backend/xai_explainer.py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explain() — TreeExplainer, polarity-correct SHAP</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Threat Classifier</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backend/threat_classifier.py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classify_threat() — 6-category priority rule engine</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IAM Generator</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backend/iam_generator.py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generate_policy() — category-specific Deny policy JSON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Policy Validator</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backend/policy_validator.py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validate_policy() — Access Analyzer integration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Remediation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backend/remediation.py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apply_remediation() — state machine, DynamoDB, SNS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Lambda Handler</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backend/lambda_function.py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AWS entry point — orchestrates all 8 stages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Dashboard UI</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frontend/app.py + 6 pages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Streamlit dashboard, all 6 pages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4" name="Text 1"/>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5" name="Text 2"/>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3"/>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Implementation Status (Audit Summary)</a:t>
            </a:r>
            <a:endParaRPr lang="en-US" sz="2200" dirty="0"/>
          </a:p>
        </p:txBody>
      </p:sp>
      <p:sp>
        <p:nvSpPr>
          <p:cNvPr id="3" name="Text 1"/>
          <p:cNvSpPr/>
          <p:nvPr/>
        </p:nvSpPr>
        <p:spPr>
          <a:xfrm>
            <a:off x="320040" y="713232"/>
            <a:ext cx="8503920" cy="228600"/>
          </a:xfrm>
          <a:prstGeom prst="rect">
            <a:avLst/>
          </a:prstGeom>
          <a:noFill/>
          <a:ln/>
        </p:spPr>
        <p:txBody>
          <a:bodyPr wrap="square" rtlCol="0" anchor="ctr"/>
          <a:lstStyle/>
          <a:p>
            <a:pPr indent="0" marL="0">
              <a:buNone/>
            </a:pPr>
            <a:r>
              <a:rPr lang="en-US" sz="1000" i="1" dirty="0">
                <a:solidFill>
                  <a:srgbClr val="555555"/>
                </a:solidFill>
              </a:rPr>
              <a:t>Verified live against actual code, model files, and test runs — nothing invented.</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987552"/>
          <a:ext cx="8503920" cy="3840480"/>
        </p:xfrm>
        <a:graphic>
          <a:graphicData uri="http://schemas.openxmlformats.org/drawingml/2006/table">
            <a:tbl>
              <a:tblPr/>
              <a:tblGrid>
                <a:gridCol w="3108960"/>
                <a:gridCol w="1737360"/>
                <a:gridCol w="3657600"/>
              </a:tblGrid>
              <a:tr h="295422">
                <a:tc>
                  <a:txBody>
                    <a:bodyPr/>
                    <a:lstStyle/>
                    <a:p>
                      <a:pPr indent="0" marL="0">
                        <a:buNone/>
                      </a:pPr>
                      <a:r>
                        <a:rPr lang="en-US" sz="870" b="1" dirty="0">
                          <a:solidFill>
                            <a:srgbClr val="FFFFFF"/>
                          </a:solidFill>
                          <a:latin typeface="Calibri" pitchFamily="34" charset="0"/>
                          <a:ea typeface="Calibri" pitchFamily="34" charset="-122"/>
                          <a:cs typeface="Calibri" pitchFamily="34" charset="-120"/>
                        </a:rPr>
                        <a:t>Component</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870" b="1" dirty="0">
                          <a:solidFill>
                            <a:srgbClr val="FFFFFF"/>
                          </a:solidFill>
                          <a:latin typeface="Calibri" pitchFamily="34" charset="0"/>
                          <a:ea typeface="Calibri" pitchFamily="34" charset="-122"/>
                          <a:cs typeface="Calibri" pitchFamily="34" charset="-120"/>
                        </a:rPr>
                        <a:t>Status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870" b="1" dirty="0">
                          <a:solidFill>
                            <a:srgbClr val="FFFFFF"/>
                          </a:solidFill>
                          <a:latin typeface="Calibri" pitchFamily="34" charset="0"/>
                          <a:ea typeface="Calibri" pitchFamily="34" charset="-122"/>
                          <a:cs typeface="Calibri" pitchFamily="34" charset="-120"/>
                        </a:rPr>
                        <a:t>Verified Result</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Feature extraction</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8/8 unit tests pass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IsolationForest model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6 model tests + 8-event benchmark, 8/8 pass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SHAP XAI attribution</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5/5 tests pass; top SHAP negative for anomalies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Threat classification (6 categories)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 (90%)</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7/7 tests pass; isRoot top-feature edge case → UNCERTAIN</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IAM policy generation</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8/8 tests; valid JSON, correct IAM syntax</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Access Analyzer validation</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SIMULATED</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AccessDeniedException (missing IAM permission); fallback CLEAN, clearly labelled</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Remediation state machine</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7/7 tests; all transitions correct</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End-to-end Lambda pipeline</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 (mocked AWS)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2/2 E2E tests pass (mocked DynamoDB + SNS)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DynamoDB persistence</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DEMO</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Table unavailable (eu-north-1); UI uses 20 demo events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EventBridge → Lambda trigger</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ARCHITECTURE (AWS)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Deployed in AWS; not triggerable from localhost</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Streamlit dashboard (6 pages)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All pages render without errors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Full test suite (pytest)</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82 / 82 PASSED in 31.30 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6" name="Text 3"/>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7" name="Text 4"/>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Experiments and Results</a:t>
            </a:r>
            <a:endParaRPr lang="en-US" sz="2200" dirty="0"/>
          </a:p>
        </p:txBody>
      </p:sp>
      <p:sp>
        <p:nvSpPr>
          <p:cNvPr id="3" name="Text 1"/>
          <p:cNvSpPr/>
          <p:nvPr/>
        </p:nvSpPr>
        <p:spPr>
          <a:xfrm>
            <a:off x="320040" y="822960"/>
            <a:ext cx="4114800" cy="274320"/>
          </a:xfrm>
          <a:prstGeom prst="rect">
            <a:avLst/>
          </a:prstGeom>
          <a:noFill/>
          <a:ln/>
        </p:spPr>
        <p:txBody>
          <a:bodyPr wrap="square" rtlCol="0" anchor="ctr"/>
          <a:lstStyle/>
          <a:p>
            <a:pPr indent="0" marL="0">
              <a:buNone/>
            </a:pPr>
            <a:r>
              <a:rPr lang="en-US" sz="1300" b="1" dirty="0">
                <a:solidFill>
                  <a:srgbClr val="1F2A44"/>
                </a:solidFill>
              </a:rPr>
              <a:t>Test suite</a:t>
            </a:r>
            <a:endParaRPr lang="en-US" sz="1300" dirty="0"/>
          </a:p>
        </p:txBody>
      </p:sp>
      <p:sp>
        <p:nvSpPr>
          <p:cNvPr id="4" name="Text 2"/>
          <p:cNvSpPr/>
          <p:nvPr/>
        </p:nvSpPr>
        <p:spPr>
          <a:xfrm>
            <a:off x="320040" y="1097280"/>
            <a:ext cx="4114800" cy="457200"/>
          </a:xfrm>
          <a:prstGeom prst="rect">
            <a:avLst/>
          </a:prstGeom>
          <a:noFill/>
          <a:ln/>
        </p:spPr>
        <p:txBody>
          <a:bodyPr wrap="square" rtlCol="0" anchor="t"/>
          <a:lstStyle/>
          <a:p>
            <a:pPr marL="342900" indent="-342900">
              <a:lnSpc>
                <a:spcPct val="108000"/>
              </a:lnSpc>
              <a:spcAft>
                <a:spcPts val="600"/>
              </a:spcAft>
              <a:buSzPct val="100000"/>
              <a:buChar char="•"/>
            </a:pPr>
            <a:r>
              <a:rPr lang="en-US" sz="1100" dirty="0">
                <a:solidFill>
                  <a:srgbClr val="111111"/>
                </a:solidFill>
                <a:latin typeface="Calibri" pitchFamily="34" charset="0"/>
                <a:ea typeface="Calibri" pitchFamily="34" charset="-122"/>
                <a:cs typeface="Calibri" pitchFamily="34" charset="-120"/>
              </a:rPr>
              <a:t>82 / 82 tests passed (31.30 s) — python -m pytest tests/ -v</a:t>
            </a:r>
            <a:endParaRPr lang="en-US" sz="1100" dirty="0"/>
          </a:p>
        </p:txBody>
      </p:sp>
      <p:sp>
        <p:nvSpPr>
          <p:cNvPr id="5" name="Text 3"/>
          <p:cNvSpPr/>
          <p:nvPr/>
        </p:nvSpPr>
        <p:spPr>
          <a:xfrm>
            <a:off x="320040" y="1600200"/>
            <a:ext cx="4114800" cy="274320"/>
          </a:xfrm>
          <a:prstGeom prst="rect">
            <a:avLst/>
          </a:prstGeom>
          <a:noFill/>
          <a:ln/>
        </p:spPr>
        <p:txBody>
          <a:bodyPr wrap="square" rtlCol="0" anchor="ctr"/>
          <a:lstStyle/>
          <a:p>
            <a:pPr indent="0" marL="0">
              <a:buNone/>
            </a:pPr>
            <a:r>
              <a:rPr lang="en-US" sz="1300" b="1" dirty="0">
                <a:solidFill>
                  <a:srgbClr val="1F2A44"/>
                </a:solidFill>
              </a:rPr>
              <a:t>Latency (verified, live)</a:t>
            </a:r>
            <a:endParaRPr lang="en-US" sz="1300" dirty="0"/>
          </a:p>
        </p:txBody>
      </p:sp>
      <p:sp>
        <p:nvSpPr>
          <p:cNvPr id="6" name="Text 4"/>
          <p:cNvSpPr/>
          <p:nvPr/>
        </p:nvSpPr>
        <p:spPr>
          <a:xfrm>
            <a:off x="320040" y="1874520"/>
            <a:ext cx="4114800" cy="1005840"/>
          </a:xfrm>
          <a:prstGeom prst="rect">
            <a:avLst/>
          </a:prstGeom>
          <a:noFill/>
          <a:ln/>
        </p:spPr>
        <p:txBody>
          <a:bodyPr wrap="square" rtlCol="0" anchor="t"/>
          <a:lstStyle/>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ML scoring: 22.8 ms (100 runs)</a:t>
            </a:r>
            <a:endParaRPr lang="en-US" sz="1050" dirty="0"/>
          </a:p>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SHAP attribution: 0.77 ms (20 runs)</a:t>
            </a:r>
            <a:endParaRPr lang="en-US" sz="1050" dirty="0"/>
          </a:p>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Full pipeline: ~1815 ms (dominated by Access Analyzer network call)</a:t>
            </a:r>
            <a:endParaRPr lang="en-US" sz="1050" dirty="0"/>
          </a:p>
        </p:txBody>
      </p:sp>
      <p:sp>
        <p:nvSpPr>
          <p:cNvPr id="7" name="Text 5"/>
          <p:cNvSpPr/>
          <p:nvPr/>
        </p:nvSpPr>
        <p:spPr>
          <a:xfrm>
            <a:off x="4663440" y="822960"/>
            <a:ext cx="4160520" cy="457200"/>
          </a:xfrm>
          <a:prstGeom prst="rect">
            <a:avLst/>
          </a:prstGeom>
          <a:noFill/>
          <a:ln/>
        </p:spPr>
        <p:txBody>
          <a:bodyPr wrap="square" rtlCol="0" anchor="ctr"/>
          <a:lstStyle/>
          <a:p>
            <a:pPr indent="0" marL="0">
              <a:buNone/>
            </a:pPr>
            <a:r>
              <a:rPr lang="en-US" sz="1200" b="1" dirty="0">
                <a:solidFill>
                  <a:srgbClr val="1F2A44"/>
                </a:solidFill>
              </a:rPr>
              <a:t>8-event benchmark (small hand-labelled set — NOT a full evaluation)</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663440" y="1298448"/>
          <a:ext cx="4160520" cy="1463040"/>
        </p:xfrm>
        <a:graphic>
          <a:graphicData uri="http://schemas.openxmlformats.org/drawingml/2006/table">
            <a:tbl>
              <a:tblPr/>
              <a:tblGrid>
                <a:gridCol w="2377440"/>
                <a:gridCol w="1783080"/>
              </a:tblGrid>
              <a:tr h="2438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r>
              <a:tr h="2438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Precision</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0.800 (4/5)</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438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Recall</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1.000 (4/4)</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438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F1-score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0.889</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438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False Positive Rate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0.250 (1/4)</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438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TP / FP / TN / FN</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 / 1 / 3 / 0</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9" name="Text 6"/>
          <p:cNvSpPr/>
          <p:nvPr/>
        </p:nvSpPr>
        <p:spPr>
          <a:xfrm>
            <a:off x="4663440" y="2834640"/>
            <a:ext cx="4160520" cy="914400"/>
          </a:xfrm>
          <a:prstGeom prst="rect">
            <a:avLst/>
          </a:prstGeom>
          <a:noFill/>
          <a:ln/>
        </p:spPr>
        <p:txBody>
          <a:bodyPr wrap="square" rtlCol="0" anchor="ctr"/>
          <a:lstStyle/>
          <a:p>
            <a:pPr indent="0" marL="0">
              <a:buNone/>
            </a:pPr>
            <a:r>
              <a:rPr lang="en-US" sz="900" i="1" dirty="0">
                <a:solidFill>
                  <a:srgbClr val="555555"/>
                </a:solidFill>
              </a:rPr>
              <a:t>Note: based on only 8 hand-labelled events (4 anomalous, 4 normal). Not a holdout/representative evaluation set — 1 borderline false positive (DescribeInstances, score −0.0201, just past the −0.02 threshold).</a:t>
            </a:r>
            <a:endParaRPr lang="en-US" sz="900" dirty="0"/>
          </a:p>
        </p:txBody>
      </p:sp>
      <p:sp>
        <p:nvSpPr>
          <p:cNvPr id="10" name="Text 7"/>
          <p:cNvSpPr/>
          <p:nvPr/>
        </p:nvSpPr>
        <p:spPr>
          <a:xfrm>
            <a:off x="320040" y="3886200"/>
            <a:ext cx="8503920" cy="274320"/>
          </a:xfrm>
          <a:prstGeom prst="rect">
            <a:avLst/>
          </a:prstGeom>
          <a:noFill/>
          <a:ln/>
        </p:spPr>
        <p:txBody>
          <a:bodyPr wrap="square" rtlCol="0" anchor="ctr"/>
          <a:lstStyle/>
          <a:p>
            <a:pPr indent="0" marL="0">
              <a:buNone/>
            </a:pPr>
            <a:r>
              <a:rPr lang="en-US" sz="1000" i="1" dirty="0">
                <a:solidFill>
                  <a:srgbClr val="B03A2E"/>
                </a:solidFill>
              </a:rPr>
              <a:t>[Insert: confusion matrix image, SHAP bar chart, dashboard screenshots]</a:t>
            </a:r>
            <a:endParaRPr lang="en-US" sz="1000" dirty="0"/>
          </a:p>
        </p:txBody>
      </p:sp>
      <p:sp>
        <p:nvSpPr>
          <p:cNvPr id="11" name="Text 8"/>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12" name="Text 9"/>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13" name="Text 10"/>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Real vs Simulated / Current Limitations</a:t>
            </a:r>
            <a:endParaRPr lang="en-US" sz="2200" dirty="0"/>
          </a:p>
        </p:txBody>
      </p:sp>
      <p:sp>
        <p:nvSpPr>
          <p:cNvPr id="3" name="Text 1"/>
          <p:cNvSpPr/>
          <p:nvPr/>
        </p:nvSpPr>
        <p:spPr>
          <a:xfrm>
            <a:off x="320040" y="822960"/>
            <a:ext cx="4114800" cy="274320"/>
          </a:xfrm>
          <a:prstGeom prst="rect">
            <a:avLst/>
          </a:prstGeom>
          <a:noFill/>
          <a:ln/>
        </p:spPr>
        <p:txBody>
          <a:bodyPr wrap="square" rtlCol="0" anchor="ctr"/>
          <a:lstStyle/>
          <a:p>
            <a:pPr indent="0" marL="0">
              <a:buNone/>
            </a:pPr>
            <a:r>
              <a:rPr lang="en-US" sz="1300" b="1" dirty="0">
                <a:solidFill>
                  <a:srgbClr val="1F2A44"/>
                </a:solidFill>
              </a:rPr>
              <a:t>Real vs Simulated</a:t>
            </a:r>
            <a:endParaRPr lang="en-US" sz="1300" dirty="0"/>
          </a:p>
        </p:txBody>
      </p:sp>
      <p:sp>
        <p:nvSpPr>
          <p:cNvPr id="4" name="Text 2"/>
          <p:cNvSpPr/>
          <p:nvPr/>
        </p:nvSpPr>
        <p:spPr>
          <a:xfrm>
            <a:off x="320040" y="1097280"/>
            <a:ext cx="4114800" cy="91440"/>
          </a:xfrm>
          <a:prstGeom prst="rect">
            <a:avLst/>
          </a:prstGeom>
          <a:noFill/>
          <a:ln/>
        </p:spPr>
        <p:txBody>
          <a:bodyPr wrap="square" rtlCol="0" anchor="t"/>
          <a:lstStyle/>
          <a:p>
            <a:pPr indent="0" marL="0">
              <a:lnSpc>
                <a:spcPct val="108000"/>
              </a:lnSpc>
              <a:spcAft>
                <a:spcPts val="600"/>
              </a:spcAft>
              <a:buNone/>
            </a:pPr>
            <a:r>
              <a:rPr lang="en-US" sz="1300" b="1" dirty="0">
                <a:solidFill>
                  <a:srgbClr val="111111"/>
                </a:solidFill>
                <a:latin typeface="Calibri" pitchFamily="34" charset="0"/>
                <a:ea typeface="Calibri" pitchFamily="34" charset="-122"/>
                <a:cs typeface="Calibri" pitchFamily="34" charset="-120"/>
              </a:rPr>
              <a:t>REAL: </a:t>
            </a:r>
            <a:endParaRPr lang="en-US" sz="1300" dirty="0"/>
          </a:p>
        </p:txBody>
      </p:sp>
      <p:sp>
        <p:nvSpPr>
          <p:cNvPr id="5" name="Text 3"/>
          <p:cNvSpPr/>
          <p:nvPr/>
        </p:nvSpPr>
        <p:spPr>
          <a:xfrm>
            <a:off x="320040" y="1143000"/>
            <a:ext cx="4114800" cy="2194560"/>
          </a:xfrm>
          <a:prstGeom prst="rect">
            <a:avLst/>
          </a:prstGeom>
          <a:noFill/>
          <a:ln/>
        </p:spPr>
        <p:txBody>
          <a:bodyPr wrap="square" rtlCol="0" anchor="t"/>
          <a:lstStyle/>
          <a:p>
            <a:pPr marL="342900" indent="-342900">
              <a:lnSpc>
                <a:spcPct val="108000"/>
              </a:lnSpc>
              <a:spcAft>
                <a:spcPts val="600"/>
              </a:spcAft>
              <a:buSzPct val="100000"/>
              <a:buChar char="•"/>
            </a:pPr>
            <a:r>
              <a:rPr lang="en-US" sz="1030" dirty="0">
                <a:solidFill>
                  <a:srgbClr val="111111"/>
                </a:solidFill>
                <a:latin typeface="Calibri" pitchFamily="34" charset="0"/>
                <a:ea typeface="Calibri" pitchFamily="34" charset="-122"/>
                <a:cs typeface="Calibri" pitchFamily="34" charset="-120"/>
              </a:rPr>
              <a:t>REAL — IsolationForest scoring, SHAP attribution, feature extraction, threat classification, IAM policy JSON</a:t>
            </a:r>
            <a:endParaRPr lang="en-US" sz="1030" dirty="0"/>
          </a:p>
          <a:p>
            <a:pPr marL="342900" indent="-342900">
              <a:lnSpc>
                <a:spcPct val="108000"/>
              </a:lnSpc>
              <a:spcAft>
                <a:spcPts val="600"/>
              </a:spcAft>
              <a:buSzPct val="100000"/>
              <a:buChar char="•"/>
            </a:pPr>
            <a:r>
              <a:rPr lang="en-US" sz="1030" dirty="0">
                <a:solidFill>
                  <a:srgbClr val="111111"/>
                </a:solidFill>
                <a:latin typeface="Calibri" pitchFamily="34" charset="0"/>
                <a:ea typeface="Calibri" pitchFamily="34" charset="-122"/>
                <a:cs typeface="Calibri" pitchFamily="34" charset="-120"/>
              </a:rPr>
              <a:t>SIMULATED — IAM enforcement (SIMULATION_MODE), Access Analyzer validation (permission missing)</a:t>
            </a:r>
            <a:endParaRPr lang="en-US" sz="1030" dirty="0"/>
          </a:p>
          <a:p>
            <a:pPr marL="342900" indent="-342900">
              <a:lnSpc>
                <a:spcPct val="108000"/>
              </a:lnSpc>
              <a:spcAft>
                <a:spcPts val="600"/>
              </a:spcAft>
              <a:buSzPct val="100000"/>
              <a:buChar char="•"/>
            </a:pPr>
            <a:r>
              <a:rPr lang="en-US" sz="1030" dirty="0">
                <a:solidFill>
                  <a:srgbClr val="111111"/>
                </a:solidFill>
                <a:latin typeface="Calibri" pitchFamily="34" charset="0"/>
                <a:ea typeface="Calibri" pitchFamily="34" charset="-122"/>
                <a:cs typeface="Calibri" pitchFamily="34" charset="-120"/>
              </a:rPr>
              <a:t>DEMO — DynamoDB reads (table unavailable; 20 demo events)</a:t>
            </a:r>
            <a:endParaRPr lang="en-US" sz="1030" dirty="0"/>
          </a:p>
          <a:p>
            <a:pPr marL="342900" indent="-342900">
              <a:lnSpc>
                <a:spcPct val="108000"/>
              </a:lnSpc>
              <a:spcAft>
                <a:spcPts val="600"/>
              </a:spcAft>
              <a:buSzPct val="100000"/>
              <a:buChar char="•"/>
            </a:pPr>
            <a:r>
              <a:rPr lang="en-US" sz="1030" dirty="0">
                <a:solidFill>
                  <a:srgbClr val="111111"/>
                </a:solidFill>
                <a:latin typeface="Calibri" pitchFamily="34" charset="0"/>
                <a:ea typeface="Calibri" pitchFamily="34" charset="-122"/>
                <a:cs typeface="Calibri" pitchFamily="34" charset="-120"/>
              </a:rPr>
              <a:t>REAL (AWS, not local) — EventBridge → Lambda trigger</a:t>
            </a:r>
            <a:endParaRPr lang="en-US" sz="1030" dirty="0"/>
          </a:p>
        </p:txBody>
      </p:sp>
      <p:sp>
        <p:nvSpPr>
          <p:cNvPr id="6" name="Text 4"/>
          <p:cNvSpPr/>
          <p:nvPr/>
        </p:nvSpPr>
        <p:spPr>
          <a:xfrm>
            <a:off x="4663440" y="822960"/>
            <a:ext cx="4160520" cy="274320"/>
          </a:xfrm>
          <a:prstGeom prst="rect">
            <a:avLst/>
          </a:prstGeom>
          <a:noFill/>
          <a:ln/>
        </p:spPr>
        <p:txBody>
          <a:bodyPr wrap="square" rtlCol="0" anchor="ctr"/>
          <a:lstStyle/>
          <a:p>
            <a:pPr indent="0" marL="0">
              <a:buNone/>
            </a:pPr>
            <a:r>
              <a:rPr lang="en-US" sz="1300" b="1" dirty="0">
                <a:solidFill>
                  <a:srgbClr val="1F2A44"/>
                </a:solidFill>
              </a:rPr>
              <a:t>Current Limitations</a:t>
            </a:r>
            <a:endParaRPr lang="en-US" sz="1300" dirty="0"/>
          </a:p>
        </p:txBody>
      </p:sp>
      <p:sp>
        <p:nvSpPr>
          <p:cNvPr id="7" name="Text 5"/>
          <p:cNvSpPr/>
          <p:nvPr/>
        </p:nvSpPr>
        <p:spPr>
          <a:xfrm>
            <a:off x="4663440" y="1097280"/>
            <a:ext cx="4160520" cy="2377440"/>
          </a:xfrm>
          <a:prstGeom prst="rect">
            <a:avLst/>
          </a:prstGeom>
          <a:noFill/>
          <a:ln/>
        </p:spPr>
        <p:txBody>
          <a:bodyPr wrap="square" rtlCol="0" anchor="t"/>
          <a:lstStyle/>
          <a:p>
            <a:pPr marL="342900" indent="-342900">
              <a:lnSpc>
                <a:spcPct val="108000"/>
              </a:lnSpc>
              <a:spcAft>
                <a:spcPts val="600"/>
              </a:spcAft>
              <a:buSzPct val="100000"/>
              <a:buChar char="•"/>
            </a:pPr>
            <a:r>
              <a:rPr lang="en-US" sz="1000" dirty="0">
                <a:solidFill>
                  <a:srgbClr val="111111"/>
                </a:solidFill>
                <a:latin typeface="Calibri" pitchFamily="34" charset="0"/>
                <a:ea typeface="Calibri" pitchFamily="34" charset="-122"/>
                <a:cs typeface="Calibri" pitchFamily="34" charset="-120"/>
              </a:rPr>
              <a:t>isRoot top-SHAP-feature Root scenarios classify as UNCERTAIN, not DEFENSE_EVASION/PRIVILEGE_ESCALATION</a:t>
            </a:r>
            <a:endParaRPr lang="en-US" sz="1000" dirty="0"/>
          </a:p>
          <a:p>
            <a:pPr marL="342900" indent="-342900">
              <a:lnSpc>
                <a:spcPct val="108000"/>
              </a:lnSpc>
              <a:spcAft>
                <a:spcPts val="600"/>
              </a:spcAft>
              <a:buSzPct val="100000"/>
              <a:buChar char="•"/>
            </a:pPr>
            <a:r>
              <a:rPr lang="en-US" sz="1000" dirty="0">
                <a:solidFill>
                  <a:srgbClr val="111111"/>
                </a:solidFill>
                <a:latin typeface="Calibri" pitchFamily="34" charset="0"/>
                <a:ea typeface="Calibri" pitchFamily="34" charset="-122"/>
                <a:cs typeface="Calibri" pitchFamily="34" charset="-120"/>
              </a:rPr>
              <a:t>Access Analyzer validation simulated — cloudguard-test IAM user lacks ValidatePolicy permission</a:t>
            </a:r>
            <a:endParaRPr lang="en-US" sz="1000" dirty="0"/>
          </a:p>
          <a:p>
            <a:pPr marL="342900" indent="-342900">
              <a:lnSpc>
                <a:spcPct val="108000"/>
              </a:lnSpc>
              <a:spcAft>
                <a:spcPts val="600"/>
              </a:spcAft>
              <a:buSzPct val="100000"/>
              <a:buChar char="•"/>
            </a:pPr>
            <a:r>
              <a:rPr lang="en-US" sz="1000" dirty="0">
                <a:solidFill>
                  <a:srgbClr val="111111"/>
                </a:solidFill>
                <a:latin typeface="Calibri" pitchFamily="34" charset="0"/>
                <a:ea typeface="Calibri" pitchFamily="34" charset="-122"/>
                <a:cs typeface="Calibri" pitchFamily="34" charset="-120"/>
              </a:rPr>
              <a:t>DynamoDB (eu-north-1) unreachable — dashboard runs on demo data</a:t>
            </a:r>
            <a:endParaRPr lang="en-US" sz="1000" dirty="0"/>
          </a:p>
          <a:p>
            <a:pPr marL="342900" indent="-342900">
              <a:lnSpc>
                <a:spcPct val="108000"/>
              </a:lnSpc>
              <a:spcAft>
                <a:spcPts val="600"/>
              </a:spcAft>
              <a:buSzPct val="100000"/>
              <a:buChar char="•"/>
            </a:pPr>
            <a:r>
              <a:rPr lang="en-US" sz="1000" dirty="0">
                <a:solidFill>
                  <a:srgbClr val="111111"/>
                </a:solidFill>
                <a:latin typeface="Calibri" pitchFamily="34" charset="0"/>
                <a:ea typeface="Calibri" pitchFamily="34" charset="-122"/>
                <a:cs typeface="Calibri" pitchFamily="34" charset="-120"/>
              </a:rPr>
              <a:t>No labelled holdout evaluation set — only an 8-event benchmark</a:t>
            </a:r>
            <a:endParaRPr lang="en-US" sz="1000" dirty="0"/>
          </a:p>
          <a:p>
            <a:pPr marL="342900" indent="-342900">
              <a:lnSpc>
                <a:spcPct val="108000"/>
              </a:lnSpc>
              <a:spcAft>
                <a:spcPts val="600"/>
              </a:spcAft>
              <a:buSzPct val="100000"/>
              <a:buChar char="•"/>
            </a:pPr>
            <a:r>
              <a:rPr lang="en-US" sz="1000" dirty="0">
                <a:solidFill>
                  <a:srgbClr val="111111"/>
                </a:solidFill>
                <a:latin typeface="Calibri" pitchFamily="34" charset="0"/>
                <a:ea typeface="Calibri" pitchFamily="34" charset="-122"/>
                <a:cs typeface="Calibri" pitchFamily="34" charset="-120"/>
              </a:rPr>
              <a:t>Full pipeline latency (~1815 ms) dominated by Access Analyzer network round-trip</a:t>
            </a:r>
            <a:endParaRPr lang="en-US" sz="1000" dirty="0"/>
          </a:p>
          <a:p>
            <a:pPr marL="342900" indent="-342900">
              <a:lnSpc>
                <a:spcPct val="108000"/>
              </a:lnSpc>
              <a:spcAft>
                <a:spcPts val="600"/>
              </a:spcAft>
              <a:buSzPct val="100000"/>
              <a:buChar char="•"/>
            </a:pPr>
            <a:r>
              <a:rPr lang="en-US" sz="1000" dirty="0">
                <a:solidFill>
                  <a:srgbClr val="111111"/>
                </a:solidFill>
                <a:latin typeface="Calibri" pitchFamily="34" charset="0"/>
                <a:ea typeface="Calibri" pitchFamily="34" charset="-122"/>
                <a:cs typeface="Calibri" pitchFamily="34" charset="-120"/>
              </a:rPr>
              <a:t>Static model — no periodic retraining pipeline yet</a:t>
            </a:r>
            <a:endParaRPr lang="en-US" sz="1000" dirty="0"/>
          </a:p>
        </p:txBody>
      </p:sp>
      <p:sp>
        <p:nvSpPr>
          <p:cNvPr id="8" name="Text 6"/>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9" name="Text 7"/>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10" name="Text 8"/>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Conclusion and Future Work</a:t>
            </a:r>
            <a:endParaRPr lang="en-US" sz="2200" dirty="0"/>
          </a:p>
        </p:txBody>
      </p:sp>
      <p:sp>
        <p:nvSpPr>
          <p:cNvPr id="3" name="Text 1"/>
          <p:cNvSpPr/>
          <p:nvPr/>
        </p:nvSpPr>
        <p:spPr>
          <a:xfrm>
            <a:off x="320040" y="822960"/>
            <a:ext cx="8503920" cy="274320"/>
          </a:xfrm>
          <a:prstGeom prst="rect">
            <a:avLst/>
          </a:prstGeom>
          <a:noFill/>
          <a:ln/>
        </p:spPr>
        <p:txBody>
          <a:bodyPr wrap="square" rtlCol="0" anchor="ctr"/>
          <a:lstStyle/>
          <a:p>
            <a:pPr indent="0" marL="0">
              <a:buNone/>
            </a:pPr>
            <a:r>
              <a:rPr lang="en-US" sz="1300" b="1" dirty="0">
                <a:solidFill>
                  <a:srgbClr val="1F2A44"/>
                </a:solidFill>
              </a:rPr>
              <a:t>Conclusion</a:t>
            </a:r>
            <a:endParaRPr lang="en-US" sz="1300" dirty="0"/>
          </a:p>
        </p:txBody>
      </p:sp>
      <p:sp>
        <p:nvSpPr>
          <p:cNvPr id="4" name="Text 2"/>
          <p:cNvSpPr/>
          <p:nvPr/>
        </p:nvSpPr>
        <p:spPr>
          <a:xfrm>
            <a:off x="320040" y="1097280"/>
            <a:ext cx="8503920" cy="1188720"/>
          </a:xfrm>
          <a:prstGeom prst="rect">
            <a:avLst/>
          </a:prstGeom>
          <a:noFill/>
          <a:ln/>
        </p:spPr>
        <p:txBody>
          <a:bodyPr wrap="square" rtlCol="0" anchor="t"/>
          <a:lstStyle/>
          <a:p>
            <a:pPr marL="342900" indent="-342900">
              <a:lnSpc>
                <a:spcPct val="108000"/>
              </a:lnSpc>
              <a:spcAft>
                <a:spcPts val="600"/>
              </a:spcAft>
              <a:buSzPct val="100000"/>
              <a:buChar char="•"/>
            </a:pPr>
            <a:r>
              <a:rPr lang="en-US" sz="1150" dirty="0">
                <a:solidFill>
                  <a:srgbClr val="111111"/>
                </a:solidFill>
                <a:latin typeface="Calibri" pitchFamily="34" charset="0"/>
                <a:ea typeface="Calibri" pitchFamily="34" charset="-122"/>
                <a:cs typeface="Calibri" pitchFamily="34" charset="-120"/>
              </a:rPr>
              <a:t>CloudGuard's core ML pipeline — IsolationForest anomaly detection (1.93M events), SHAP explainability, MITRE ATT&amp;CK classification, and IAM policy generation — is implemented and verified (82/82 tests pass).</a:t>
            </a:r>
            <a:endParaRPr lang="en-US" sz="1150" dirty="0"/>
          </a:p>
          <a:p>
            <a:pPr marL="342900" indent="-342900">
              <a:lnSpc>
                <a:spcPct val="108000"/>
              </a:lnSpc>
              <a:spcAft>
                <a:spcPts val="600"/>
              </a:spcAft>
              <a:buSzPct val="100000"/>
              <a:buChar char="•"/>
            </a:pPr>
            <a:r>
              <a:rPr lang="en-US" sz="1150" dirty="0">
                <a:solidFill>
                  <a:srgbClr val="111111"/>
                </a:solidFill>
                <a:latin typeface="Calibri" pitchFamily="34" charset="0"/>
                <a:ea typeface="Calibri" pitchFamily="34" charset="-122"/>
                <a:cs typeface="Calibri" pitchFamily="34" charset="-120"/>
              </a:rPr>
              <a:t>Access Analyzer validation, DynamoDB persistence, and live EventBridge triggering remain simulated/demo pending IAM permission, connectivity, and cloud deployment fixes.</a:t>
            </a:r>
            <a:endParaRPr lang="en-US" sz="1150" dirty="0"/>
          </a:p>
        </p:txBody>
      </p:sp>
      <p:sp>
        <p:nvSpPr>
          <p:cNvPr id="5" name="Text 3"/>
          <p:cNvSpPr/>
          <p:nvPr/>
        </p:nvSpPr>
        <p:spPr>
          <a:xfrm>
            <a:off x="320040" y="2331720"/>
            <a:ext cx="8503920" cy="274320"/>
          </a:xfrm>
          <a:prstGeom prst="rect">
            <a:avLst/>
          </a:prstGeom>
          <a:noFill/>
          <a:ln/>
        </p:spPr>
        <p:txBody>
          <a:bodyPr wrap="square" rtlCol="0" anchor="ctr"/>
          <a:lstStyle/>
          <a:p>
            <a:pPr indent="0" marL="0">
              <a:buNone/>
            </a:pPr>
            <a:r>
              <a:rPr lang="en-US" sz="1300" b="1" dirty="0">
                <a:solidFill>
                  <a:srgbClr val="1F2A44"/>
                </a:solidFill>
              </a:rPr>
              <a:t>Future Work</a:t>
            </a:r>
            <a:endParaRPr lang="en-US" sz="1300" dirty="0"/>
          </a:p>
        </p:txBody>
      </p:sp>
      <p:sp>
        <p:nvSpPr>
          <p:cNvPr id="6" name="Text 4"/>
          <p:cNvSpPr/>
          <p:nvPr/>
        </p:nvSpPr>
        <p:spPr>
          <a:xfrm>
            <a:off x="320040" y="2606040"/>
            <a:ext cx="8503920" cy="2011680"/>
          </a:xfrm>
          <a:prstGeom prst="rect">
            <a:avLst/>
          </a:prstGeom>
          <a:noFill/>
          <a:ln/>
        </p:spPr>
        <p:txBody>
          <a:bodyPr wrap="square" rtlCol="0" anchor="t"/>
          <a:lstStyle/>
          <a:p>
            <a:pPr marL="342900" indent="-342900">
              <a:lnSpc>
                <a:spcPct val="108000"/>
              </a:lnSpc>
              <a:spcAft>
                <a:spcPts val="600"/>
              </a:spcAft>
              <a:buSzPct val="100000"/>
              <a:buChar char="•"/>
            </a:pPr>
            <a:r>
              <a:rPr lang="en-US" sz="1100" dirty="0">
                <a:solidFill>
                  <a:srgbClr val="111111"/>
                </a:solidFill>
                <a:latin typeface="Calibri" pitchFamily="34" charset="0"/>
                <a:ea typeface="Calibri" pitchFamily="34" charset="-122"/>
                <a:cs typeface="Calibri" pitchFamily="34" charset="-120"/>
              </a:rPr>
              <a:t>Fix threat classifier for top_feature == "isRoot" scenarios.</a:t>
            </a:r>
            <a:endParaRPr lang="en-US" sz="1100" dirty="0"/>
          </a:p>
          <a:p>
            <a:pPr marL="342900" indent="-342900">
              <a:lnSpc>
                <a:spcPct val="108000"/>
              </a:lnSpc>
              <a:spcAft>
                <a:spcPts val="600"/>
              </a:spcAft>
              <a:buSzPct val="100000"/>
              <a:buChar char="•"/>
            </a:pPr>
            <a:r>
              <a:rPr lang="en-US" sz="1100" dirty="0">
                <a:solidFill>
                  <a:srgbClr val="111111"/>
                </a:solidFill>
                <a:latin typeface="Calibri" pitchFamily="34" charset="0"/>
                <a:ea typeface="Calibri" pitchFamily="34" charset="-122"/>
                <a:cs typeface="Calibri" pitchFamily="34" charset="-120"/>
              </a:rPr>
              <a:t>Add access-analyzer:ValidatePolicy permission for real validation.</a:t>
            </a:r>
            <a:endParaRPr lang="en-US" sz="1100" dirty="0"/>
          </a:p>
          <a:p>
            <a:pPr marL="342900" indent="-342900">
              <a:lnSpc>
                <a:spcPct val="108000"/>
              </a:lnSpc>
              <a:spcAft>
                <a:spcPts val="600"/>
              </a:spcAft>
              <a:buSzPct val="100000"/>
              <a:buChar char="•"/>
            </a:pPr>
            <a:r>
              <a:rPr lang="en-US" sz="1100" dirty="0">
                <a:solidFill>
                  <a:srgbClr val="111111"/>
                </a:solidFill>
                <a:latin typeface="Calibri" pitchFamily="34" charset="0"/>
                <a:ea typeface="Calibri" pitchFamily="34" charset="-122"/>
                <a:cs typeface="Calibri" pitchFamily="34" charset="-120"/>
              </a:rPr>
              <a:t>Restore DynamoDB connectivity; add periodic model retraining.</a:t>
            </a:r>
            <a:endParaRPr lang="en-US" sz="1100" dirty="0"/>
          </a:p>
          <a:p>
            <a:pPr marL="342900" indent="-342900">
              <a:lnSpc>
                <a:spcPct val="108000"/>
              </a:lnSpc>
              <a:spcAft>
                <a:spcPts val="600"/>
              </a:spcAft>
              <a:buSzPct val="100000"/>
              <a:buChar char="•"/>
            </a:pPr>
            <a:r>
              <a:rPr lang="en-US" sz="1100" dirty="0">
                <a:solidFill>
                  <a:srgbClr val="111111"/>
                </a:solidFill>
                <a:latin typeface="Calibri" pitchFamily="34" charset="0"/>
                <a:ea typeface="Calibri" pitchFamily="34" charset="-122"/>
                <a:cs typeface="Calibri" pitchFamily="34" charset="-120"/>
              </a:rPr>
              <a:t>Build a labelled evaluation benchmark beyond the 8-event set; tune the anomaly threshold via precision–recall analysis.</a:t>
            </a:r>
            <a:endParaRPr lang="en-US" sz="1100" dirty="0"/>
          </a:p>
          <a:p>
            <a:pPr marL="342900" indent="-342900">
              <a:lnSpc>
                <a:spcPct val="108000"/>
              </a:lnSpc>
              <a:spcAft>
                <a:spcPts val="600"/>
              </a:spcAft>
              <a:buSzPct val="100000"/>
              <a:buChar char="•"/>
            </a:pPr>
            <a:r>
              <a:rPr lang="en-US" sz="1100" dirty="0">
                <a:solidFill>
                  <a:srgbClr val="111111"/>
                </a:solidFill>
                <a:latin typeface="Calibri" pitchFamily="34" charset="0"/>
                <a:ea typeface="Calibri" pitchFamily="34" charset="-122"/>
                <a:cs typeface="Calibri" pitchFamily="34" charset="-120"/>
              </a:rPr>
              <a:t>Add authentication/RBAC to the dashboard; extend to multi-account AWS Organizations.</a:t>
            </a:r>
            <a:endParaRPr lang="en-US" sz="1100" dirty="0"/>
          </a:p>
        </p:txBody>
      </p:sp>
      <p:sp>
        <p:nvSpPr>
          <p:cNvPr id="7" name="Text 5"/>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8" name="Text 6"/>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9" name="Text 7"/>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References</a:t>
            </a:r>
            <a:endParaRPr lang="en-US" sz="2200" dirty="0"/>
          </a:p>
        </p:txBody>
      </p:sp>
      <p:sp>
        <p:nvSpPr>
          <p:cNvPr id="3" name="Text 1"/>
          <p:cNvSpPr/>
          <p:nvPr/>
        </p:nvSpPr>
        <p:spPr>
          <a:xfrm>
            <a:off x="320040" y="868680"/>
            <a:ext cx="8503920" cy="3931920"/>
          </a:xfrm>
          <a:prstGeom prst="rect">
            <a:avLst/>
          </a:prstGeom>
          <a:noFill/>
          <a:ln/>
        </p:spPr>
        <p:txBody>
          <a:bodyPr wrap="square" rtlCol="0" anchor="t"/>
          <a:lstStyle/>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[1] F. T. Liu, K. M. Ting, and Z.-H. Zhou, "Isolation Forest," in Proc. IEEE ICDM, Pisa, Italy, 2008, pp. 413–422.</a:t>
            </a:r>
            <a:endParaRPr lang="en-US" sz="1130" dirty="0"/>
          </a:p>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[2] S. M. Lundberg and S.-I. Lee, "A unified approach to interpreting model predictions," NeurIPS, vol. 30, 2017.</a:t>
            </a:r>
            <a:endParaRPr lang="en-US" sz="1130" dirty="0"/>
          </a:p>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[3] B. E. Strom et al., "MITRE ATT&amp;CK: Design and Philosophy," MITRE Corporation, Tech. Rep., 2018.</a:t>
            </a:r>
            <a:endParaRPr lang="en-US" sz="1130" dirty="0"/>
          </a:p>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[4] Amazon Web Services, "AWS CloudTrail Documentation," 2023.</a:t>
            </a:r>
            <a:endParaRPr lang="en-US" sz="1130" dirty="0"/>
          </a:p>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[5] Amazon Web Services, "AWS IAM Access Analyzer Documentation," 2023.</a:t>
            </a:r>
            <a:endParaRPr lang="en-US" sz="1130" dirty="0"/>
          </a:p>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[6] F. Pedregosa et al., "Scikit-learn: Machine Learning in Python," JMLR, vol. 12, pp. 2825–2830, 2011.</a:t>
            </a:r>
            <a:endParaRPr lang="en-US" sz="1130" dirty="0"/>
          </a:p>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[7] I. S. K. Varma and K. Ramya, "An Explainable ML and LLM Framework for Anomaly Detection in AWS CloudTrail Logs," ICNGN, 2025.</a:t>
            </a:r>
            <a:endParaRPr lang="en-US" sz="1130" dirty="0"/>
          </a:p>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[8] P. Arul Selvam and P. Tamije Selvy, "XAI for Insider Threat Detection: Balancing Security and Transparency in Cloud Computing," CCPE, 2025.</a:t>
            </a:r>
            <a:endParaRPr lang="en-US" sz="1130" dirty="0"/>
          </a:p>
        </p:txBody>
      </p:sp>
      <p:sp>
        <p:nvSpPr>
          <p:cNvPr id="4" name="Text 2"/>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07-09-2026</a:t>
            </a:r>
            <a:endParaRPr lang="en-US" sz="800" dirty="0"/>
          </a:p>
        </p:txBody>
      </p:sp>
      <p:sp>
        <p:nvSpPr>
          <p:cNvPr id="5" name="Text 3"/>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4"/>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2026-09-07T18:19:27Z</dcterms:created>
  <dcterms:modified xsi:type="dcterms:W3CDTF">2026-09-07T18:19:27Z</dcterms:modified>
</cp:coreProperties>
</file>